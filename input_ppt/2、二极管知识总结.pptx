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7" r:id="rId3"/>
    <p:sldId id="258" r:id="rId4"/>
    <p:sldId id="259" r:id="rId5"/>
    <p:sldId id="260" r:id="rId6"/>
    <p:sldId id="264" r:id="rId7"/>
    <p:sldId id="263" r:id="rId8"/>
    <p:sldId id="265" r:id="rId9"/>
    <p:sldId id="267" r:id="rId10"/>
    <p:sldId id="269" r:id="rId11"/>
    <p:sldId id="262" r:id="rId12"/>
    <p:sldId id="271" r:id="rId13"/>
    <p:sldId id="272" r:id="rId14"/>
    <p:sldId id="273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75" d="100"/>
          <a:sy n="75" d="100"/>
        </p:scale>
        <p:origin x="5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image" Target="../media/image14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5" Type="http://schemas.openxmlformats.org/officeDocument/2006/relationships/image" Target="../media/image26.wmf"/><Relationship Id="rId4" Type="http://schemas.openxmlformats.org/officeDocument/2006/relationships/image" Target="../media/image25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28942-AC9C-4803-ACC5-DDAC031CB91B}" type="datetimeFigureOut">
              <a:rPr lang="zh-CN" altLang="en-US" smtClean="0"/>
              <a:t>2020/2/16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0BD4C-8725-4DA5-9F10-2A722A3F2A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7007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28942-AC9C-4803-ACC5-DDAC031CB91B}" type="datetimeFigureOut">
              <a:rPr lang="zh-CN" altLang="en-US" smtClean="0"/>
              <a:t>2020/2/16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0BD4C-8725-4DA5-9F10-2A722A3F2A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6480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28942-AC9C-4803-ACC5-DDAC031CB91B}" type="datetimeFigureOut">
              <a:rPr lang="zh-CN" altLang="en-US" smtClean="0"/>
              <a:t>2020/2/16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0BD4C-8725-4DA5-9F10-2A722A3F2A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4482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28942-AC9C-4803-ACC5-DDAC031CB91B}" type="datetimeFigureOut">
              <a:rPr lang="zh-CN" altLang="en-US" smtClean="0"/>
              <a:t>2020/2/16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0BD4C-8725-4DA5-9F10-2A722A3F2A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259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28942-AC9C-4803-ACC5-DDAC031CB91B}" type="datetimeFigureOut">
              <a:rPr lang="zh-CN" altLang="en-US" smtClean="0"/>
              <a:t>2020/2/16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0BD4C-8725-4DA5-9F10-2A722A3F2A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2300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28942-AC9C-4803-ACC5-DDAC031CB91B}" type="datetimeFigureOut">
              <a:rPr lang="zh-CN" altLang="en-US" smtClean="0"/>
              <a:t>2020/2/16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0BD4C-8725-4DA5-9F10-2A722A3F2A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7228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28942-AC9C-4803-ACC5-DDAC031CB91B}" type="datetimeFigureOut">
              <a:rPr lang="zh-CN" altLang="en-US" smtClean="0"/>
              <a:t>2020/2/16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0BD4C-8725-4DA5-9F10-2A722A3F2A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24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28942-AC9C-4803-ACC5-DDAC031CB91B}" type="datetimeFigureOut">
              <a:rPr lang="zh-CN" altLang="en-US" smtClean="0"/>
              <a:t>2020/2/16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0BD4C-8725-4DA5-9F10-2A722A3F2A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2614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28942-AC9C-4803-ACC5-DDAC031CB91B}" type="datetimeFigureOut">
              <a:rPr lang="zh-CN" altLang="en-US" smtClean="0"/>
              <a:t>2020/2/16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0BD4C-8725-4DA5-9F10-2A722A3F2A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8614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28942-AC9C-4803-ACC5-DDAC031CB91B}" type="datetimeFigureOut">
              <a:rPr lang="zh-CN" altLang="en-US" smtClean="0"/>
              <a:t>2020/2/16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0BD4C-8725-4DA5-9F10-2A722A3F2A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0743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28942-AC9C-4803-ACC5-DDAC031CB91B}" type="datetimeFigureOut">
              <a:rPr lang="zh-CN" altLang="en-US" smtClean="0"/>
              <a:t>2020/2/16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0BD4C-8725-4DA5-9F10-2A722A3F2A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14469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88128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70942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375993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81273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42575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1019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92302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9500435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3224981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20469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1222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" Target="../slides/slid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728942-AC9C-4803-ACC5-DDAC031CB91B}" type="datetimeFigureOut">
              <a:rPr lang="zh-CN" altLang="en-US" smtClean="0"/>
              <a:t>2020/2/16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30BD4C-8725-4DA5-9F10-2A722A3F2A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9143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0" name="AutoShape 8">
            <a:hlinkClick r:id="" action="ppaction://hlinkshowjump?jump=nextslide" highlightClick="1"/>
          </p:cNvPr>
          <p:cNvSpPr>
            <a:spLocks noChangeArrowheads="1"/>
          </p:cNvSpPr>
          <p:nvPr userDrawn="1"/>
        </p:nvSpPr>
        <p:spPr bwMode="auto">
          <a:xfrm>
            <a:off x="9821334" y="6488113"/>
            <a:ext cx="666751" cy="292100"/>
          </a:xfrm>
          <a:prstGeom prst="actionButtonBlank">
            <a:avLst/>
          </a:prstGeom>
          <a:gradFill rotWithShape="0">
            <a:gsLst>
              <a:gs pos="0">
                <a:srgbClr val="F0FAC4"/>
              </a:gs>
              <a:gs pos="100000">
                <a:srgbClr val="F0FAC4">
                  <a:gamma/>
                  <a:shade val="89020"/>
                  <a:invGamma/>
                </a:srgbClr>
              </a:gs>
            </a:gsLst>
            <a:path path="rect">
              <a:fillToRect l="50000" t="50000" r="50000" b="50000"/>
            </a:path>
          </a:gra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smtClean="0">
                <a:solidFill>
                  <a:srgbClr val="339933"/>
                </a:solidFill>
              </a:rPr>
              <a:t>下一页</a:t>
            </a:r>
          </a:p>
        </p:txBody>
      </p:sp>
      <p:sp>
        <p:nvSpPr>
          <p:cNvPr id="3081" name="AutoShape 9">
            <a:hlinkClick r:id="" action="ppaction://hlinkshowjump?jump=lastslideviewed" highlightClick="1"/>
          </p:cNvPr>
          <p:cNvSpPr>
            <a:spLocks noChangeArrowheads="1"/>
          </p:cNvSpPr>
          <p:nvPr userDrawn="1"/>
        </p:nvSpPr>
        <p:spPr bwMode="auto">
          <a:xfrm>
            <a:off x="10515601" y="6489700"/>
            <a:ext cx="666751" cy="292100"/>
          </a:xfrm>
          <a:prstGeom prst="actionButtonBlank">
            <a:avLst/>
          </a:prstGeom>
          <a:gradFill rotWithShape="0">
            <a:gsLst>
              <a:gs pos="0">
                <a:srgbClr val="F0FAC4"/>
              </a:gs>
              <a:gs pos="100000">
                <a:srgbClr val="F0FAC4">
                  <a:gamma/>
                  <a:shade val="89020"/>
                  <a:invGamma/>
                </a:srgbClr>
              </a:gs>
            </a:gsLst>
            <a:path path="rect">
              <a:fillToRect l="50000" t="50000" r="50000" b="50000"/>
            </a:path>
          </a:gra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smtClean="0">
                <a:solidFill>
                  <a:srgbClr val="339933"/>
                </a:solidFill>
              </a:rPr>
              <a:t>返回</a:t>
            </a:r>
          </a:p>
        </p:txBody>
      </p:sp>
      <p:sp>
        <p:nvSpPr>
          <p:cNvPr id="3082" name="AutoShape 10">
            <a:hlinkClick r:id="" action="ppaction://hlinkshowjump?jump=previousslide" highlightClick="1"/>
          </p:cNvPr>
          <p:cNvSpPr>
            <a:spLocks noChangeArrowheads="1"/>
          </p:cNvSpPr>
          <p:nvPr userDrawn="1"/>
        </p:nvSpPr>
        <p:spPr bwMode="auto">
          <a:xfrm>
            <a:off x="9114367" y="6489700"/>
            <a:ext cx="666751" cy="292100"/>
          </a:xfrm>
          <a:prstGeom prst="actionButtonBlank">
            <a:avLst/>
          </a:prstGeom>
          <a:gradFill rotWithShape="0">
            <a:gsLst>
              <a:gs pos="0">
                <a:srgbClr val="F0FAC4"/>
              </a:gs>
              <a:gs pos="100000">
                <a:srgbClr val="F0FAC4">
                  <a:gamma/>
                  <a:shade val="89020"/>
                  <a:invGamma/>
                </a:srgbClr>
              </a:gs>
            </a:gsLst>
            <a:path path="rect">
              <a:fillToRect l="50000" t="50000" r="50000" b="50000"/>
            </a:path>
          </a:gra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smtClean="0">
                <a:solidFill>
                  <a:srgbClr val="339933"/>
                </a:solidFill>
              </a:rPr>
              <a:t>上一页</a:t>
            </a:r>
          </a:p>
        </p:txBody>
      </p:sp>
      <p:sp>
        <p:nvSpPr>
          <p:cNvPr id="3083" name="AutoShape 11">
            <a:hlinkClick r:id="" action="ppaction://hlinkshowjump?jump=endshow" highlightClick="1"/>
          </p:cNvPr>
          <p:cNvSpPr>
            <a:spLocks noChangeArrowheads="1"/>
          </p:cNvSpPr>
          <p:nvPr userDrawn="1"/>
        </p:nvSpPr>
        <p:spPr bwMode="auto">
          <a:xfrm>
            <a:off x="11216218" y="6488113"/>
            <a:ext cx="666749" cy="292100"/>
          </a:xfrm>
          <a:prstGeom prst="actionButtonBlank">
            <a:avLst/>
          </a:prstGeom>
          <a:gradFill rotWithShape="0">
            <a:gsLst>
              <a:gs pos="0">
                <a:srgbClr val="F0FAC4"/>
              </a:gs>
              <a:gs pos="100000">
                <a:srgbClr val="F0FAC4">
                  <a:gamma/>
                  <a:shade val="89804"/>
                  <a:invGamma/>
                </a:srgbClr>
              </a:gs>
            </a:gsLst>
            <a:path path="rect">
              <a:fillToRect l="50000" t="50000" r="50000" b="50000"/>
            </a:path>
          </a:gra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smtClean="0">
                <a:solidFill>
                  <a:srgbClr val="339933"/>
                </a:solidFill>
              </a:rPr>
              <a:t>退出</a:t>
            </a:r>
          </a:p>
        </p:txBody>
      </p:sp>
      <p:sp>
        <p:nvSpPr>
          <p:cNvPr id="3084" name="AutoShape 12">
            <a:hlinkClick r:id="rId14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8422218" y="6489700"/>
            <a:ext cx="666749" cy="292100"/>
          </a:xfrm>
          <a:prstGeom prst="actionButtonBlank">
            <a:avLst/>
          </a:prstGeom>
          <a:gradFill rotWithShape="0">
            <a:gsLst>
              <a:gs pos="0">
                <a:srgbClr val="F0FAC4"/>
              </a:gs>
              <a:gs pos="100000">
                <a:srgbClr val="F0FAC4">
                  <a:gamma/>
                  <a:shade val="89020"/>
                  <a:invGamma/>
                </a:srgbClr>
              </a:gs>
            </a:gsLst>
            <a:path path="rect">
              <a:fillToRect l="50000" t="50000" r="50000" b="50000"/>
            </a:path>
          </a:gra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smtClean="0">
                <a:solidFill>
                  <a:srgbClr val="339933"/>
                </a:solidFill>
              </a:rPr>
              <a:t>章目录</a:t>
            </a:r>
          </a:p>
        </p:txBody>
      </p:sp>
      <p:pic>
        <p:nvPicPr>
          <p:cNvPr id="3085" name="Picture 13"/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267" y="6418264"/>
            <a:ext cx="2336800" cy="325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02341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image" Target="../media/image5.wmf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0.png"/><Relationship Id="rId4" Type="http://schemas.openxmlformats.org/officeDocument/2006/relationships/image" Target="../media/image9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3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5.e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4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6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8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9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2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19.bin"/><Relationship Id="rId5" Type="http://schemas.openxmlformats.org/officeDocument/2006/relationships/oleObject" Target="../embeddings/oleObject16.bin"/><Relationship Id="rId10" Type="http://schemas.openxmlformats.org/officeDocument/2006/relationships/image" Target="../media/image25.wmf"/><Relationship Id="rId4" Type="http://schemas.openxmlformats.org/officeDocument/2006/relationships/image" Target="../media/image22.wmf"/><Relationship Id="rId9" Type="http://schemas.openxmlformats.org/officeDocument/2006/relationships/oleObject" Target="../embeddings/oleObject18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491738"/>
            <a:ext cx="3676311" cy="658006"/>
          </a:xfrm>
        </p:spPr>
        <p:txBody>
          <a:bodyPr>
            <a:normAutofit/>
          </a:bodyPr>
          <a:lstStyle/>
          <a:p>
            <a:r>
              <a:rPr lang="zh-CN" altLang="en-US" sz="2800" b="1" dirty="0" smtClean="0">
                <a:solidFill>
                  <a:srgbClr val="0000CC"/>
                </a:solidFill>
              </a:rPr>
              <a:t>一、</a:t>
            </a:r>
            <a:r>
              <a:rPr lang="zh-CN" altLang="en-US" sz="2800" b="1" dirty="0" smtClean="0">
                <a:solidFill>
                  <a:srgbClr val="0000CC"/>
                </a:solidFill>
                <a:ea typeface="华文新魏" panose="02010800040101010101" pitchFamily="2" charset="-122"/>
              </a:rPr>
              <a:t>结构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92944" y="1318871"/>
            <a:ext cx="7757161" cy="3913993"/>
          </a:xfrm>
        </p:spPr>
        <p:txBody>
          <a:bodyPr>
            <a:normAutofit/>
          </a:bodyPr>
          <a:lstStyle/>
          <a:p>
            <a:pPr marL="0" indent="0" fontAlgn="base">
              <a:spcBef>
                <a:spcPct val="50000"/>
              </a:spcBef>
              <a:spcAft>
                <a:spcPct val="0"/>
              </a:spcAft>
              <a:buNone/>
            </a:pPr>
            <a:r>
              <a:rPr lang="en-US" altLang="zh-CN" sz="2400" b="1" dirty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400" b="1" dirty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、点接触型：</a:t>
            </a:r>
            <a:r>
              <a:rPr lang="en-US" altLang="zh-CN" sz="2400" b="1" dirty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zh-CN" altLang="en-US" sz="2400" b="1" dirty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、特点结：面积小，结电容小</a:t>
            </a:r>
            <a:endParaRPr lang="en-US" altLang="zh-CN" sz="2400" b="1" dirty="0">
              <a:solidFill>
                <a:srgbClr val="6633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indent="0" fontAlgn="base">
              <a:spcBef>
                <a:spcPct val="50000"/>
              </a:spcBef>
              <a:spcAft>
                <a:spcPct val="0"/>
              </a:spcAft>
              <a:buNone/>
            </a:pPr>
            <a:r>
              <a:rPr lang="en-US" altLang="zh-CN" sz="2400" b="1" dirty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                   b</a:t>
            </a:r>
            <a:r>
              <a:rPr lang="zh-CN" altLang="en-US" sz="2400" b="1" dirty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、适用场合：小功率整流、高频电路</a:t>
            </a:r>
            <a:endParaRPr lang="en-US" altLang="zh-CN" sz="2400" b="1" dirty="0">
              <a:solidFill>
                <a:srgbClr val="6633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indent="0" fontAlgn="base">
              <a:spcBef>
                <a:spcPct val="50000"/>
              </a:spcBef>
              <a:spcAft>
                <a:spcPct val="0"/>
              </a:spcAft>
              <a:buNone/>
            </a:pPr>
            <a:r>
              <a:rPr lang="en-US" altLang="zh-CN" sz="2400" b="1" dirty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400" b="1" dirty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、面接触型：</a:t>
            </a:r>
            <a:r>
              <a:rPr lang="en-US" altLang="zh-CN" sz="2400" b="1" dirty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zh-CN" altLang="en-US" sz="2400" b="1" dirty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、特点：结面积大，结电容大</a:t>
            </a:r>
            <a:endParaRPr lang="en-US" altLang="zh-CN" sz="2400" b="1" dirty="0">
              <a:solidFill>
                <a:srgbClr val="6633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indent="0" fontAlgn="base">
              <a:spcBef>
                <a:spcPct val="50000"/>
              </a:spcBef>
              <a:spcAft>
                <a:spcPct val="0"/>
              </a:spcAft>
              <a:buNone/>
            </a:pPr>
            <a:r>
              <a:rPr lang="en-US" altLang="zh-CN" sz="2400" b="1" dirty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                </a:t>
            </a:r>
            <a:r>
              <a:rPr lang="en-US" altLang="zh-CN" sz="2400" b="1" dirty="0" smtClean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b="1" dirty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lang="zh-CN" altLang="en-US" sz="2400" b="1" dirty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、适用场合：低频工作整流电路</a:t>
            </a:r>
            <a:endParaRPr lang="en-US" altLang="zh-CN" sz="2400" b="1" dirty="0">
              <a:solidFill>
                <a:srgbClr val="6633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indent="0" fontAlgn="base">
              <a:spcBef>
                <a:spcPct val="50000"/>
              </a:spcBef>
              <a:spcAft>
                <a:spcPct val="0"/>
              </a:spcAft>
              <a:buNone/>
            </a:pPr>
            <a:endParaRPr lang="en-US" altLang="zh-CN" sz="2400" b="1" dirty="0">
              <a:solidFill>
                <a:srgbClr val="6633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indent="0" fontAlgn="base">
              <a:spcBef>
                <a:spcPct val="50000"/>
              </a:spcBef>
              <a:spcAft>
                <a:spcPct val="0"/>
              </a:spcAft>
              <a:buNone/>
            </a:pPr>
            <a:r>
              <a:rPr lang="en-US" altLang="zh-CN" sz="2400" b="1" dirty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400" b="1" dirty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、平面型：</a:t>
            </a:r>
            <a:r>
              <a:rPr lang="en-US" altLang="zh-CN" sz="2400" b="1" dirty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zh-CN" altLang="en-US" sz="2400" b="1" dirty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、特点结：面积可调</a:t>
            </a:r>
            <a:endParaRPr lang="en-US" altLang="zh-CN" sz="2400" b="1" dirty="0">
              <a:solidFill>
                <a:srgbClr val="6633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indent="0" fontAlgn="base">
              <a:spcBef>
                <a:spcPct val="50000"/>
              </a:spcBef>
              <a:spcAft>
                <a:spcPct val="0"/>
              </a:spcAft>
              <a:buNone/>
            </a:pPr>
            <a:r>
              <a:rPr lang="en-US" altLang="zh-CN" sz="2400" b="1" dirty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            </a:t>
            </a:r>
            <a:r>
              <a:rPr lang="en-US" altLang="zh-CN" sz="2400" b="1" dirty="0" smtClean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b="1" dirty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lang="zh-CN" altLang="en-US" sz="2400" b="1" dirty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、适用场合：可大功率整流，</a:t>
            </a:r>
            <a:r>
              <a:rPr lang="zh-CN" altLang="en-US" sz="2400" b="1" dirty="0" smtClean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可做开关管</a:t>
            </a:r>
            <a:endParaRPr lang="zh-CN" altLang="en-US" sz="2400" b="1" dirty="0">
              <a:solidFill>
                <a:srgbClr val="6633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" name="标题 1"/>
          <p:cNvSpPr txBox="1">
            <a:spLocks/>
          </p:cNvSpPr>
          <p:nvPr/>
        </p:nvSpPr>
        <p:spPr>
          <a:xfrm>
            <a:off x="992944" y="5528604"/>
            <a:ext cx="9290538" cy="7321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kern="0" dirty="0" smtClean="0">
                <a:solidFill>
                  <a:srgbClr val="663300"/>
                </a:solidFill>
                <a:latin typeface="宋体" panose="02010600030101010101" pitchFamily="2" charset="-122"/>
              </a:rPr>
              <a:t>★ ★</a:t>
            </a:r>
            <a:r>
              <a:rPr lang="zh-CN" altLang="en-US" sz="2800" b="1" dirty="0" smtClean="0">
                <a:solidFill>
                  <a:srgbClr val="0000CC"/>
                </a:solidFill>
              </a:rPr>
              <a:t>二、</a:t>
            </a:r>
            <a:r>
              <a:rPr lang="zh-CN" altLang="en-US" sz="2800" b="1" dirty="0" smtClean="0">
                <a:solidFill>
                  <a:srgbClr val="0000CC"/>
                </a:solidFill>
                <a:ea typeface="华文新魏" panose="02010800040101010101" pitchFamily="2" charset="-122"/>
              </a:rPr>
              <a:t>符号</a:t>
            </a:r>
            <a:endParaRPr lang="zh-CN" altLang="en-US" sz="2800" dirty="0"/>
          </a:p>
        </p:txBody>
      </p:sp>
      <p:grpSp>
        <p:nvGrpSpPr>
          <p:cNvPr id="6" name="Group 92"/>
          <p:cNvGrpSpPr>
            <a:grpSpLocks/>
          </p:cNvGrpSpPr>
          <p:nvPr/>
        </p:nvGrpSpPr>
        <p:grpSpPr bwMode="auto">
          <a:xfrm>
            <a:off x="4514511" y="5415798"/>
            <a:ext cx="1847851" cy="1235076"/>
            <a:chOff x="3806" y="2832"/>
            <a:chExt cx="1164" cy="778"/>
          </a:xfrm>
        </p:grpSpPr>
        <p:grpSp>
          <p:nvGrpSpPr>
            <p:cNvPr id="7" name="Group 76"/>
            <p:cNvGrpSpPr>
              <a:grpSpLocks/>
            </p:cNvGrpSpPr>
            <p:nvPr/>
          </p:nvGrpSpPr>
          <p:grpSpPr bwMode="auto">
            <a:xfrm>
              <a:off x="3806" y="2880"/>
              <a:ext cx="1164" cy="384"/>
              <a:chOff x="3806" y="2976"/>
              <a:chExt cx="1164" cy="384"/>
            </a:xfrm>
          </p:grpSpPr>
          <p:grpSp>
            <p:nvGrpSpPr>
              <p:cNvPr id="14" name="Group 77"/>
              <p:cNvGrpSpPr>
                <a:grpSpLocks/>
              </p:cNvGrpSpPr>
              <p:nvPr/>
            </p:nvGrpSpPr>
            <p:grpSpPr bwMode="auto">
              <a:xfrm>
                <a:off x="3898" y="3157"/>
                <a:ext cx="848" cy="203"/>
                <a:chOff x="3903" y="3109"/>
                <a:chExt cx="859" cy="165"/>
              </a:xfrm>
            </p:grpSpPr>
            <p:sp>
              <p:nvSpPr>
                <p:cNvPr id="17" name="Freeform 78"/>
                <p:cNvSpPr>
                  <a:spLocks/>
                </p:cNvSpPr>
                <p:nvPr/>
              </p:nvSpPr>
              <p:spPr bwMode="auto">
                <a:xfrm>
                  <a:off x="4287" y="3109"/>
                  <a:ext cx="155" cy="165"/>
                </a:xfrm>
                <a:custGeom>
                  <a:avLst/>
                  <a:gdLst>
                    <a:gd name="T0" fmla="*/ 0 w 155"/>
                    <a:gd name="T1" fmla="*/ 0 h 165"/>
                    <a:gd name="T2" fmla="*/ 155 w 155"/>
                    <a:gd name="T3" fmla="*/ 83 h 165"/>
                    <a:gd name="T4" fmla="*/ 0 w 155"/>
                    <a:gd name="T5" fmla="*/ 165 h 165"/>
                    <a:gd name="T6" fmla="*/ 0 w 155"/>
                    <a:gd name="T7" fmla="*/ 0 h 16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55"/>
                    <a:gd name="T13" fmla="*/ 0 h 165"/>
                    <a:gd name="T14" fmla="*/ 155 w 155"/>
                    <a:gd name="T15" fmla="*/ 165 h 16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55" h="165">
                      <a:moveTo>
                        <a:pt x="0" y="0"/>
                      </a:moveTo>
                      <a:lnTo>
                        <a:pt x="155" y="83"/>
                      </a:lnTo>
                      <a:lnTo>
                        <a:pt x="0" y="16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sz="28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sz="28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sz="28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sz="28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8" name="Line 79"/>
                <p:cNvSpPr>
                  <a:spLocks noChangeShapeType="1"/>
                </p:cNvSpPr>
                <p:nvPr/>
              </p:nvSpPr>
              <p:spPr bwMode="auto">
                <a:xfrm>
                  <a:off x="4442" y="3109"/>
                  <a:ext cx="1" cy="165"/>
                </a:xfrm>
                <a:prstGeom prst="line">
                  <a:avLst/>
                </a:prstGeom>
                <a:noFill/>
                <a:ln w="1428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sz="28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sz="28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sz="28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sz="28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9" name="Line 80"/>
                <p:cNvSpPr>
                  <a:spLocks noChangeShapeType="1"/>
                </p:cNvSpPr>
                <p:nvPr/>
              </p:nvSpPr>
              <p:spPr bwMode="auto">
                <a:xfrm flipH="1">
                  <a:off x="3903" y="3192"/>
                  <a:ext cx="859" cy="1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sz="28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sz="28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sz="28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sz="2800" b="1"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15" name="Rectangle 81"/>
              <p:cNvSpPr>
                <a:spLocks noChangeArrowheads="1"/>
              </p:cNvSpPr>
              <p:nvPr/>
            </p:nvSpPr>
            <p:spPr bwMode="auto">
              <a:xfrm>
                <a:off x="4648" y="2976"/>
                <a:ext cx="32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eaLnBrk="1" hangingPunct="1">
                  <a:buFontTx/>
                  <a:buNone/>
                </a:pPr>
                <a:r>
                  <a:rPr kumimoji="1" lang="zh-CN" altLang="en-US" sz="20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阴极</a:t>
                </a:r>
                <a:endParaRPr kumimoji="1" lang="zh-CN" altLang="en-US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" name="Rectangle 82"/>
              <p:cNvSpPr>
                <a:spLocks noChangeArrowheads="1"/>
              </p:cNvSpPr>
              <p:nvPr/>
            </p:nvSpPr>
            <p:spPr bwMode="auto">
              <a:xfrm>
                <a:off x="3806" y="2976"/>
                <a:ext cx="32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eaLnBrk="1" hangingPunct="1">
                  <a:buFontTx/>
                  <a:buNone/>
                </a:pPr>
                <a:r>
                  <a:rPr kumimoji="1" lang="zh-CN" altLang="en-US" sz="20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阳极</a:t>
                </a:r>
                <a:endParaRPr kumimoji="1" lang="zh-CN" altLang="en-US" sz="20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3" name="Rectangle 87"/>
            <p:cNvSpPr>
              <a:spLocks noChangeArrowheads="1"/>
            </p:cNvSpPr>
            <p:nvPr/>
          </p:nvSpPr>
          <p:spPr bwMode="auto">
            <a:xfrm>
              <a:off x="4101" y="3377"/>
              <a:ext cx="39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eaLnBrk="1" hangingPunct="1">
                <a:buFontTx/>
                <a:buNone/>
              </a:pPr>
              <a:r>
                <a:rPr kumimoji="1" lang="zh-CN" altLang="en-US" sz="2400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符号</a:t>
              </a:r>
              <a:endParaRPr kumimoji="1"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9" name="Rectangle 91"/>
            <p:cNvSpPr>
              <a:spLocks noChangeArrowheads="1"/>
            </p:cNvSpPr>
            <p:nvPr/>
          </p:nvSpPr>
          <p:spPr bwMode="auto">
            <a:xfrm>
              <a:off x="4257" y="2832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eaLnBrk="1" hangingPunct="1">
                <a:buFontTx/>
                <a:buNone/>
              </a:pPr>
              <a:r>
                <a:rPr kumimoji="1"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</p:grpSp>
      <p:sp>
        <p:nvSpPr>
          <p:cNvPr id="20" name="Rectangle 4"/>
          <p:cNvSpPr txBox="1">
            <a:spLocks noChangeArrowheads="1"/>
          </p:cNvSpPr>
          <p:nvPr/>
        </p:nvSpPr>
        <p:spPr bwMode="auto">
          <a:xfrm>
            <a:off x="2317265" y="41890"/>
            <a:ext cx="7067843" cy="899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b="1" dirty="0" smtClean="0">
                <a:solidFill>
                  <a:srgbClr val="0000CC"/>
                </a:solidFill>
              </a:rPr>
              <a:t>§1.2    </a:t>
            </a:r>
            <a:r>
              <a:rPr lang="zh-CN" altLang="en-US" sz="3600" b="1" dirty="0" smtClean="0">
                <a:solidFill>
                  <a:srgbClr val="0000CC"/>
                </a:solidFill>
                <a:ea typeface="华文新魏" panose="02010800040101010101" pitchFamily="2" charset="-122"/>
              </a:rPr>
              <a:t>半导体二极管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4028" y="1997499"/>
            <a:ext cx="4407790" cy="2475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651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/>
        </p:nvSpPr>
        <p:spPr bwMode="auto">
          <a:xfrm>
            <a:off x="228903" y="312610"/>
            <a:ext cx="6059355" cy="649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kern="0" dirty="0" smtClean="0">
                <a:solidFill>
                  <a:srgbClr val="663300"/>
                </a:solidFill>
                <a:latin typeface="宋体" panose="02010600030101010101" pitchFamily="2" charset="-122"/>
              </a:rPr>
              <a:t>★</a:t>
            </a:r>
            <a:r>
              <a:rPr lang="en-US" altLang="zh-CN" sz="3200" kern="0" dirty="0">
                <a:solidFill>
                  <a:srgbClr val="6633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3200" kern="0" dirty="0" smtClean="0">
                <a:solidFill>
                  <a:srgbClr val="663300"/>
                </a:solidFill>
                <a:latin typeface="宋体" panose="02010600030101010101" pitchFamily="2" charset="-122"/>
              </a:rPr>
              <a:t>★</a:t>
            </a:r>
            <a:r>
              <a:rPr lang="en-US" altLang="zh-CN" sz="3200" kern="0" dirty="0">
                <a:solidFill>
                  <a:srgbClr val="663300"/>
                </a:solidFill>
                <a:latin typeface="宋体" panose="02010600030101010101" pitchFamily="2" charset="-122"/>
              </a:rPr>
              <a:t> ★</a:t>
            </a:r>
            <a:r>
              <a:rPr lang="zh-CN" altLang="en-US" sz="3200" b="1" dirty="0" smtClean="0">
                <a:solidFill>
                  <a:schemeClr val="tx1"/>
                </a:solidFill>
                <a:ea typeface="华文新魏" panose="02010800040101010101" pitchFamily="2" charset="-122"/>
              </a:rPr>
              <a:t>二</a:t>
            </a:r>
            <a:r>
              <a:rPr lang="zh-CN" altLang="en-US" sz="3200" b="1" dirty="0" smtClean="0">
                <a:solidFill>
                  <a:schemeClr val="tx1"/>
                </a:solidFill>
                <a:ea typeface="华文隶书" panose="02010800040101010101" pitchFamily="2" charset="-122"/>
              </a:rPr>
              <a:t>、</a:t>
            </a:r>
            <a:r>
              <a:rPr lang="zh-CN" altLang="en-US" sz="3200" b="1" dirty="0" smtClean="0">
                <a:solidFill>
                  <a:schemeClr val="tx1"/>
                </a:solidFill>
                <a:ea typeface="华文新魏" panose="02010800040101010101" pitchFamily="2" charset="-122"/>
              </a:rPr>
              <a:t>伏安特性：非线性</a:t>
            </a:r>
          </a:p>
        </p:txBody>
      </p:sp>
      <p:sp>
        <p:nvSpPr>
          <p:cNvPr id="5" name="Rectangle 3"/>
          <p:cNvSpPr>
            <a:spLocks noGrp="1" noChangeArrowheads="1"/>
          </p:cNvSpPr>
          <p:nvPr/>
        </p:nvSpPr>
        <p:spPr bwMode="auto">
          <a:xfrm>
            <a:off x="4122433" y="1109438"/>
            <a:ext cx="5163490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zh-CN" sz="2400" b="1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400" b="1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、正向导通：</a:t>
            </a: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92" y="1535782"/>
            <a:ext cx="4181475" cy="36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Line 6"/>
          <p:cNvSpPr>
            <a:spLocks noChangeShapeType="1"/>
          </p:cNvSpPr>
          <p:nvPr/>
        </p:nvSpPr>
        <p:spPr bwMode="auto">
          <a:xfrm>
            <a:off x="2800055" y="3490119"/>
            <a:ext cx="23803" cy="817185"/>
          </a:xfrm>
          <a:prstGeom prst="line">
            <a:avLst/>
          </a:prstGeom>
          <a:noFill/>
          <a:ln w="19050">
            <a:solidFill>
              <a:srgbClr val="0033CC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grpSp>
        <p:nvGrpSpPr>
          <p:cNvPr id="8" name="Group 34"/>
          <p:cNvGrpSpPr>
            <a:grpSpLocks/>
          </p:cNvGrpSpPr>
          <p:nvPr/>
        </p:nvGrpSpPr>
        <p:grpSpPr bwMode="auto">
          <a:xfrm>
            <a:off x="-2217382" y="969169"/>
            <a:ext cx="914" cy="2306637"/>
            <a:chOff x="4325" y="411"/>
            <a:chExt cx="914" cy="1453"/>
          </a:xfrm>
        </p:grpSpPr>
        <p:sp>
          <p:nvSpPr>
            <p:cNvPr id="56" name="Line 7"/>
            <p:cNvSpPr>
              <a:spLocks noChangeShapeType="1"/>
            </p:cNvSpPr>
            <p:nvPr/>
          </p:nvSpPr>
          <p:spPr bwMode="auto">
            <a:xfrm>
              <a:off x="4526" y="411"/>
              <a:ext cx="0" cy="1257"/>
            </a:xfrm>
            <a:prstGeom prst="line">
              <a:avLst/>
            </a:prstGeom>
            <a:noFill/>
            <a:ln w="19050">
              <a:solidFill>
                <a:srgbClr val="0033CC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7" name="Text Box 10"/>
            <p:cNvSpPr txBox="1">
              <a:spLocks noChangeArrowheads="1"/>
            </p:cNvSpPr>
            <p:nvPr/>
          </p:nvSpPr>
          <p:spPr bwMode="auto">
            <a:xfrm>
              <a:off x="4325" y="1614"/>
              <a:ext cx="91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46800" rIns="90000" bIns="46800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kumimoji="1" lang="zh-CN" altLang="en-US" sz="2000">
                  <a:solidFill>
                    <a:srgbClr val="CC3300"/>
                  </a:solidFill>
                  <a:latin typeface="宋体" panose="02010600030101010101" pitchFamily="2" charset="-122"/>
                </a:rPr>
                <a:t>导通压降</a:t>
              </a:r>
              <a:endParaRPr kumimoji="1" lang="zh-CN" altLang="en-US" sz="200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endParaRPr>
            </a:p>
          </p:txBody>
        </p:sp>
      </p:grpSp>
      <p:sp>
        <p:nvSpPr>
          <p:cNvPr id="55" name="Line 12"/>
          <p:cNvSpPr>
            <a:spLocks noChangeShapeType="1"/>
          </p:cNvSpPr>
          <p:nvPr/>
        </p:nvSpPr>
        <p:spPr bwMode="auto">
          <a:xfrm flipH="1">
            <a:off x="1599902" y="2434054"/>
            <a:ext cx="360363" cy="107791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grpSp>
        <p:nvGrpSpPr>
          <p:cNvPr id="11" name="Group 32"/>
          <p:cNvGrpSpPr>
            <a:grpSpLocks/>
          </p:cNvGrpSpPr>
          <p:nvPr/>
        </p:nvGrpSpPr>
        <p:grpSpPr bwMode="auto">
          <a:xfrm>
            <a:off x="591833" y="1786621"/>
            <a:ext cx="2651126" cy="2918744"/>
            <a:chOff x="930" y="533"/>
            <a:chExt cx="1670" cy="1838"/>
          </a:xfrm>
        </p:grpSpPr>
        <p:sp>
          <p:nvSpPr>
            <p:cNvPr id="46" name="Line 15"/>
            <p:cNvSpPr>
              <a:spLocks noChangeShapeType="1"/>
            </p:cNvSpPr>
            <p:nvPr/>
          </p:nvSpPr>
          <p:spPr bwMode="auto">
            <a:xfrm>
              <a:off x="2029" y="1569"/>
              <a:ext cx="261" cy="1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47" name="Group 31"/>
            <p:cNvGrpSpPr>
              <a:grpSpLocks/>
            </p:cNvGrpSpPr>
            <p:nvPr/>
          </p:nvGrpSpPr>
          <p:grpSpPr bwMode="auto">
            <a:xfrm>
              <a:off x="930" y="533"/>
              <a:ext cx="1670" cy="1838"/>
              <a:chOff x="2925" y="533"/>
              <a:chExt cx="1670" cy="1838"/>
            </a:xfrm>
          </p:grpSpPr>
          <p:sp>
            <p:nvSpPr>
              <p:cNvPr id="48" name="Arc 14"/>
              <p:cNvSpPr>
                <a:spLocks/>
              </p:cNvSpPr>
              <p:nvPr/>
            </p:nvSpPr>
            <p:spPr bwMode="auto">
              <a:xfrm>
                <a:off x="4283" y="1388"/>
                <a:ext cx="244" cy="180"/>
              </a:xfrm>
              <a:custGeom>
                <a:avLst/>
                <a:gdLst>
                  <a:gd name="T0" fmla="*/ 0 w 25003"/>
                  <a:gd name="T1" fmla="*/ 0 h 21600"/>
                  <a:gd name="T2" fmla="*/ 0 w 25003"/>
                  <a:gd name="T3" fmla="*/ 0 h 21600"/>
                  <a:gd name="T4" fmla="*/ 0 w 25003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5003"/>
                  <a:gd name="T10" fmla="*/ 0 h 21600"/>
                  <a:gd name="T11" fmla="*/ 25003 w 25003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5003" h="21600" fill="none" extrusionOk="0">
                    <a:moveTo>
                      <a:pt x="25003" y="3364"/>
                    </a:moveTo>
                    <a:cubicBezTo>
                      <a:pt x="23347" y="13864"/>
                      <a:pt x="14297" y="21599"/>
                      <a:pt x="3667" y="21600"/>
                    </a:cubicBezTo>
                    <a:cubicBezTo>
                      <a:pt x="2437" y="21600"/>
                      <a:pt x="1211" y="21495"/>
                      <a:pt x="-1" y="21286"/>
                    </a:cubicBezTo>
                  </a:path>
                  <a:path w="25003" h="21600" stroke="0" extrusionOk="0">
                    <a:moveTo>
                      <a:pt x="25003" y="3364"/>
                    </a:moveTo>
                    <a:cubicBezTo>
                      <a:pt x="23347" y="13864"/>
                      <a:pt x="14297" y="21599"/>
                      <a:pt x="3667" y="21600"/>
                    </a:cubicBezTo>
                    <a:cubicBezTo>
                      <a:pt x="2437" y="21600"/>
                      <a:pt x="1211" y="21495"/>
                      <a:pt x="-1" y="21286"/>
                    </a:cubicBezTo>
                    <a:lnTo>
                      <a:pt x="3667" y="0"/>
                    </a:lnTo>
                    <a:lnTo>
                      <a:pt x="25003" y="3364"/>
                    </a:lnTo>
                    <a:close/>
                  </a:path>
                </a:pathLst>
              </a:cu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9" name="Line 16"/>
              <p:cNvSpPr>
                <a:spLocks noChangeShapeType="1"/>
              </p:cNvSpPr>
              <p:nvPr/>
            </p:nvSpPr>
            <p:spPr bwMode="auto">
              <a:xfrm flipV="1">
                <a:off x="4518" y="533"/>
                <a:ext cx="77" cy="89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pic>
            <p:nvPicPr>
              <p:cNvPr id="50" name="Picture 17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5" y="1541"/>
                <a:ext cx="1121" cy="8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12" name="Group 35"/>
          <p:cNvGrpSpPr>
            <a:grpSpLocks/>
          </p:cNvGrpSpPr>
          <p:nvPr/>
        </p:nvGrpSpPr>
        <p:grpSpPr bwMode="auto">
          <a:xfrm>
            <a:off x="-2006463" y="2089946"/>
            <a:ext cx="1044" cy="790576"/>
            <a:chOff x="2519" y="1064"/>
            <a:chExt cx="1044" cy="498"/>
          </a:xfrm>
        </p:grpSpPr>
        <p:sp>
          <p:nvSpPr>
            <p:cNvPr id="44" name="Line 18"/>
            <p:cNvSpPr>
              <a:spLocks noChangeShapeType="1"/>
            </p:cNvSpPr>
            <p:nvPr/>
          </p:nvSpPr>
          <p:spPr bwMode="auto">
            <a:xfrm>
              <a:off x="2921" y="1277"/>
              <a:ext cx="0" cy="2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5" name="Text Box 19"/>
            <p:cNvSpPr txBox="1">
              <a:spLocks noChangeArrowheads="1"/>
            </p:cNvSpPr>
            <p:nvPr/>
          </p:nvSpPr>
          <p:spPr bwMode="auto">
            <a:xfrm>
              <a:off x="2519" y="1064"/>
              <a:ext cx="104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0000" tIns="46800" rIns="90000" bIns="46800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kumimoji="1" lang="zh-CN" altLang="en-US" sz="1800">
                  <a:solidFill>
                    <a:srgbClr val="000000"/>
                  </a:solidFill>
                  <a:latin typeface="宋体" panose="02010600030101010101" pitchFamily="2" charset="-122"/>
                </a:rPr>
                <a:t>击穿电压</a:t>
              </a:r>
              <a:r>
                <a:rPr kumimoji="1" lang="en-US" altLang="zh-CN" sz="18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18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BR</a:t>
              </a:r>
            </a:p>
          </p:txBody>
        </p:sp>
      </p:grpSp>
      <p:grpSp>
        <p:nvGrpSpPr>
          <p:cNvPr id="13" name="Group 20"/>
          <p:cNvGrpSpPr>
            <a:grpSpLocks/>
          </p:cNvGrpSpPr>
          <p:nvPr/>
        </p:nvGrpSpPr>
        <p:grpSpPr bwMode="auto">
          <a:xfrm>
            <a:off x="664858" y="1786354"/>
            <a:ext cx="2176462" cy="2927350"/>
            <a:chOff x="1574" y="816"/>
            <a:chExt cx="1638" cy="2173"/>
          </a:xfrm>
        </p:grpSpPr>
        <p:grpSp>
          <p:nvGrpSpPr>
            <p:cNvPr id="35" name="Group 21"/>
            <p:cNvGrpSpPr>
              <a:grpSpLocks/>
            </p:cNvGrpSpPr>
            <p:nvPr/>
          </p:nvGrpSpPr>
          <p:grpSpPr bwMode="auto">
            <a:xfrm>
              <a:off x="1574" y="816"/>
              <a:ext cx="1638" cy="2173"/>
              <a:chOff x="1574" y="816"/>
              <a:chExt cx="1638" cy="2173"/>
            </a:xfrm>
          </p:grpSpPr>
          <p:sp>
            <p:nvSpPr>
              <p:cNvPr id="37" name="Arc 22"/>
              <p:cNvSpPr>
                <a:spLocks/>
              </p:cNvSpPr>
              <p:nvPr/>
            </p:nvSpPr>
            <p:spPr bwMode="auto">
              <a:xfrm>
                <a:off x="2976" y="1824"/>
                <a:ext cx="144" cy="212"/>
              </a:xfrm>
              <a:custGeom>
                <a:avLst/>
                <a:gdLst>
                  <a:gd name="T0" fmla="*/ 0 w 25003"/>
                  <a:gd name="T1" fmla="*/ 0 h 21600"/>
                  <a:gd name="T2" fmla="*/ 0 w 25003"/>
                  <a:gd name="T3" fmla="*/ 0 h 21600"/>
                  <a:gd name="T4" fmla="*/ 0 w 25003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5003"/>
                  <a:gd name="T10" fmla="*/ 0 h 21600"/>
                  <a:gd name="T11" fmla="*/ 25003 w 25003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5003" h="21600" fill="none" extrusionOk="0">
                    <a:moveTo>
                      <a:pt x="25003" y="3364"/>
                    </a:moveTo>
                    <a:cubicBezTo>
                      <a:pt x="23347" y="13864"/>
                      <a:pt x="14297" y="21599"/>
                      <a:pt x="3667" y="21600"/>
                    </a:cubicBezTo>
                    <a:cubicBezTo>
                      <a:pt x="2437" y="21600"/>
                      <a:pt x="1211" y="21495"/>
                      <a:pt x="-1" y="21286"/>
                    </a:cubicBezTo>
                  </a:path>
                  <a:path w="25003" h="21600" stroke="0" extrusionOk="0">
                    <a:moveTo>
                      <a:pt x="25003" y="3364"/>
                    </a:moveTo>
                    <a:cubicBezTo>
                      <a:pt x="23347" y="13864"/>
                      <a:pt x="14297" y="21599"/>
                      <a:pt x="3667" y="21600"/>
                    </a:cubicBezTo>
                    <a:cubicBezTo>
                      <a:pt x="2437" y="21600"/>
                      <a:pt x="1211" y="21495"/>
                      <a:pt x="-1" y="21286"/>
                    </a:cubicBezTo>
                    <a:lnTo>
                      <a:pt x="3667" y="0"/>
                    </a:lnTo>
                    <a:lnTo>
                      <a:pt x="25003" y="3364"/>
                    </a:lnTo>
                    <a:close/>
                  </a:path>
                </a:pathLst>
              </a:custGeom>
              <a:noFill/>
              <a:ln w="38100">
                <a:solidFill>
                  <a:schemeClr val="fol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8" name="Line 23"/>
              <p:cNvSpPr>
                <a:spLocks noChangeShapeType="1"/>
              </p:cNvSpPr>
              <p:nvPr/>
            </p:nvSpPr>
            <p:spPr bwMode="auto">
              <a:xfrm flipV="1">
                <a:off x="3120" y="816"/>
                <a:ext cx="92" cy="1056"/>
              </a:xfrm>
              <a:prstGeom prst="line">
                <a:avLst/>
              </a:prstGeom>
              <a:noFill/>
              <a:ln w="38100">
                <a:solidFill>
                  <a:schemeClr val="fol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9" name="Arc 24"/>
              <p:cNvSpPr>
                <a:spLocks/>
              </p:cNvSpPr>
              <p:nvPr/>
            </p:nvSpPr>
            <p:spPr bwMode="auto">
              <a:xfrm>
                <a:off x="1599" y="2160"/>
                <a:ext cx="139" cy="135"/>
              </a:xfrm>
              <a:custGeom>
                <a:avLst/>
                <a:gdLst>
                  <a:gd name="T0" fmla="*/ 0 w 21579"/>
                  <a:gd name="T1" fmla="*/ 0 h 21600"/>
                  <a:gd name="T2" fmla="*/ 0 w 21579"/>
                  <a:gd name="T3" fmla="*/ 0 h 21600"/>
                  <a:gd name="T4" fmla="*/ 0 w 21579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579"/>
                  <a:gd name="T10" fmla="*/ 0 h 21600"/>
                  <a:gd name="T11" fmla="*/ 21579 w 21579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579" h="21600" fill="none" extrusionOk="0">
                    <a:moveTo>
                      <a:pt x="-1" y="15787"/>
                    </a:moveTo>
                    <a:cubicBezTo>
                      <a:pt x="2607" y="6454"/>
                      <a:pt x="11112" y="-1"/>
                      <a:pt x="20803" y="0"/>
                    </a:cubicBezTo>
                    <a:cubicBezTo>
                      <a:pt x="21061" y="0"/>
                      <a:pt x="21320" y="4"/>
                      <a:pt x="21579" y="13"/>
                    </a:cubicBezTo>
                  </a:path>
                  <a:path w="21579" h="21600" stroke="0" extrusionOk="0">
                    <a:moveTo>
                      <a:pt x="-1" y="15787"/>
                    </a:moveTo>
                    <a:cubicBezTo>
                      <a:pt x="2607" y="6454"/>
                      <a:pt x="11112" y="-1"/>
                      <a:pt x="20803" y="0"/>
                    </a:cubicBezTo>
                    <a:cubicBezTo>
                      <a:pt x="21061" y="0"/>
                      <a:pt x="21320" y="4"/>
                      <a:pt x="21579" y="13"/>
                    </a:cubicBezTo>
                    <a:lnTo>
                      <a:pt x="20803" y="21600"/>
                    </a:lnTo>
                    <a:lnTo>
                      <a:pt x="-1" y="15787"/>
                    </a:lnTo>
                    <a:close/>
                  </a:path>
                </a:pathLst>
              </a:custGeom>
              <a:noFill/>
              <a:ln w="15875">
                <a:solidFill>
                  <a:schemeClr val="fol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0" name="Arc 25"/>
              <p:cNvSpPr>
                <a:spLocks/>
              </p:cNvSpPr>
              <p:nvPr/>
            </p:nvSpPr>
            <p:spPr bwMode="auto">
              <a:xfrm>
                <a:off x="2743" y="2048"/>
                <a:ext cx="107" cy="112"/>
              </a:xfrm>
              <a:custGeom>
                <a:avLst/>
                <a:gdLst>
                  <a:gd name="T0" fmla="*/ 0 w 21600"/>
                  <a:gd name="T1" fmla="*/ 0 h 25452"/>
                  <a:gd name="T2" fmla="*/ 0 w 21600"/>
                  <a:gd name="T3" fmla="*/ 0 h 25452"/>
                  <a:gd name="T4" fmla="*/ 0 w 21600"/>
                  <a:gd name="T5" fmla="*/ 0 h 25452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5452"/>
                  <a:gd name="T11" fmla="*/ 21600 w 21600"/>
                  <a:gd name="T12" fmla="*/ 25452 h 2545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5452" fill="none" extrusionOk="0">
                    <a:moveTo>
                      <a:pt x="21194" y="0"/>
                    </a:moveTo>
                    <a:cubicBezTo>
                      <a:pt x="21464" y="1371"/>
                      <a:pt x="21600" y="2766"/>
                      <a:pt x="21600" y="4164"/>
                    </a:cubicBezTo>
                    <a:cubicBezTo>
                      <a:pt x="21600" y="14681"/>
                      <a:pt x="14025" y="23669"/>
                      <a:pt x="3659" y="25451"/>
                    </a:cubicBezTo>
                  </a:path>
                  <a:path w="21600" h="25452" stroke="0" extrusionOk="0">
                    <a:moveTo>
                      <a:pt x="21194" y="0"/>
                    </a:moveTo>
                    <a:cubicBezTo>
                      <a:pt x="21464" y="1371"/>
                      <a:pt x="21600" y="2766"/>
                      <a:pt x="21600" y="4164"/>
                    </a:cubicBezTo>
                    <a:cubicBezTo>
                      <a:pt x="21600" y="14681"/>
                      <a:pt x="14025" y="23669"/>
                      <a:pt x="3659" y="25451"/>
                    </a:cubicBezTo>
                    <a:lnTo>
                      <a:pt x="0" y="4164"/>
                    </a:lnTo>
                    <a:lnTo>
                      <a:pt x="21194" y="0"/>
                    </a:lnTo>
                    <a:close/>
                  </a:path>
                </a:pathLst>
              </a:custGeom>
              <a:noFill/>
              <a:ln w="15875">
                <a:solidFill>
                  <a:schemeClr val="fol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1" name="Line 26"/>
              <p:cNvSpPr>
                <a:spLocks noChangeShapeType="1"/>
              </p:cNvSpPr>
              <p:nvPr/>
            </p:nvSpPr>
            <p:spPr bwMode="auto">
              <a:xfrm flipH="1">
                <a:off x="1574" y="2240"/>
                <a:ext cx="20" cy="749"/>
              </a:xfrm>
              <a:prstGeom prst="line">
                <a:avLst/>
              </a:prstGeom>
              <a:noFill/>
              <a:ln w="15875">
                <a:solidFill>
                  <a:schemeClr val="fol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2" name="Line 27"/>
              <p:cNvSpPr>
                <a:spLocks noChangeShapeType="1"/>
              </p:cNvSpPr>
              <p:nvPr/>
            </p:nvSpPr>
            <p:spPr bwMode="auto">
              <a:xfrm>
                <a:off x="1728" y="2160"/>
                <a:ext cx="1040" cy="1"/>
              </a:xfrm>
              <a:prstGeom prst="line">
                <a:avLst/>
              </a:prstGeom>
              <a:noFill/>
              <a:ln w="15875">
                <a:solidFill>
                  <a:schemeClr val="fol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3" name="Line 28"/>
              <p:cNvSpPr>
                <a:spLocks noChangeShapeType="1"/>
              </p:cNvSpPr>
              <p:nvPr/>
            </p:nvSpPr>
            <p:spPr bwMode="auto">
              <a:xfrm>
                <a:off x="2856" y="2034"/>
                <a:ext cx="162" cy="0"/>
              </a:xfrm>
              <a:prstGeom prst="line">
                <a:avLst/>
              </a:prstGeom>
              <a:noFill/>
              <a:ln w="38100">
                <a:solidFill>
                  <a:schemeClr val="fol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36" name="Text Box 29"/>
            <p:cNvSpPr txBox="1">
              <a:spLocks noChangeArrowheads="1"/>
            </p:cNvSpPr>
            <p:nvPr/>
          </p:nvSpPr>
          <p:spPr bwMode="auto">
            <a:xfrm>
              <a:off x="2832" y="960"/>
              <a:ext cx="288" cy="2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7051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1" lang="zh-CN" altLang="en-US" sz="2000">
                  <a:latin typeface="Times New Roman" panose="02020603050405020304" pitchFamily="18" charset="0"/>
                </a:rPr>
                <a:t>锗</a:t>
              </a:r>
            </a:p>
          </p:txBody>
        </p:sp>
      </p:grpSp>
      <p:grpSp>
        <p:nvGrpSpPr>
          <p:cNvPr id="15" name="Group 54"/>
          <p:cNvGrpSpPr>
            <a:grpSpLocks/>
          </p:cNvGrpSpPr>
          <p:nvPr/>
        </p:nvGrpSpPr>
        <p:grpSpPr bwMode="auto">
          <a:xfrm>
            <a:off x="809327" y="1681579"/>
            <a:ext cx="2232028" cy="2447925"/>
            <a:chOff x="3198" y="346"/>
            <a:chExt cx="1406" cy="1542"/>
          </a:xfrm>
        </p:grpSpPr>
        <p:sp>
          <p:nvSpPr>
            <p:cNvPr id="32" name="Freeform 48"/>
            <p:cNvSpPr>
              <a:spLocks/>
            </p:cNvSpPr>
            <p:nvPr/>
          </p:nvSpPr>
          <p:spPr bwMode="auto">
            <a:xfrm>
              <a:off x="4377" y="346"/>
              <a:ext cx="227" cy="1134"/>
            </a:xfrm>
            <a:custGeom>
              <a:avLst/>
              <a:gdLst>
                <a:gd name="T0" fmla="*/ 0 w 190"/>
                <a:gd name="T1" fmla="*/ 1465 h 998"/>
                <a:gd name="T2" fmla="*/ 155 w 190"/>
                <a:gd name="T3" fmla="*/ 1399 h 998"/>
                <a:gd name="T4" fmla="*/ 232 w 190"/>
                <a:gd name="T5" fmla="*/ 1198 h 998"/>
                <a:gd name="T6" fmla="*/ 309 w 190"/>
                <a:gd name="T7" fmla="*/ 466 h 998"/>
                <a:gd name="T8" fmla="*/ 309 w 190"/>
                <a:gd name="T9" fmla="*/ 0 h 9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0"/>
                <a:gd name="T16" fmla="*/ 0 h 998"/>
                <a:gd name="T17" fmla="*/ 190 w 190"/>
                <a:gd name="T18" fmla="*/ 998 h 99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0" h="998">
                  <a:moveTo>
                    <a:pt x="0" y="998"/>
                  </a:moveTo>
                  <a:cubicBezTo>
                    <a:pt x="34" y="990"/>
                    <a:pt x="68" y="983"/>
                    <a:pt x="91" y="953"/>
                  </a:cubicBezTo>
                  <a:cubicBezTo>
                    <a:pt x="114" y="923"/>
                    <a:pt x="121" y="923"/>
                    <a:pt x="136" y="817"/>
                  </a:cubicBezTo>
                  <a:cubicBezTo>
                    <a:pt x="151" y="711"/>
                    <a:pt x="174" y="454"/>
                    <a:pt x="182" y="318"/>
                  </a:cubicBezTo>
                  <a:cubicBezTo>
                    <a:pt x="190" y="182"/>
                    <a:pt x="182" y="53"/>
                    <a:pt x="182" y="0"/>
                  </a:cubicBezTo>
                </a:path>
              </a:pathLst>
            </a:custGeom>
            <a:noFill/>
            <a:ln w="25400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3" name="Freeform 49"/>
            <p:cNvSpPr>
              <a:spLocks/>
            </p:cNvSpPr>
            <p:nvPr/>
          </p:nvSpPr>
          <p:spPr bwMode="auto">
            <a:xfrm>
              <a:off x="3198" y="1480"/>
              <a:ext cx="952" cy="408"/>
            </a:xfrm>
            <a:custGeom>
              <a:avLst/>
              <a:gdLst>
                <a:gd name="T0" fmla="*/ 952 w 952"/>
                <a:gd name="T1" fmla="*/ 0 h 362"/>
                <a:gd name="T2" fmla="*/ 907 w 952"/>
                <a:gd name="T3" fmla="*/ 194 h 362"/>
                <a:gd name="T4" fmla="*/ 725 w 952"/>
                <a:gd name="T5" fmla="*/ 194 h 362"/>
                <a:gd name="T6" fmla="*/ 136 w 952"/>
                <a:gd name="T7" fmla="*/ 194 h 362"/>
                <a:gd name="T8" fmla="*/ 0 w 952"/>
                <a:gd name="T9" fmla="*/ 518 h 3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52"/>
                <a:gd name="T16" fmla="*/ 0 h 362"/>
                <a:gd name="T17" fmla="*/ 952 w 952"/>
                <a:gd name="T18" fmla="*/ 362 h 36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52" h="362">
                  <a:moveTo>
                    <a:pt x="952" y="0"/>
                  </a:moveTo>
                  <a:cubicBezTo>
                    <a:pt x="948" y="56"/>
                    <a:pt x="945" y="113"/>
                    <a:pt x="907" y="136"/>
                  </a:cubicBezTo>
                  <a:cubicBezTo>
                    <a:pt x="869" y="159"/>
                    <a:pt x="853" y="136"/>
                    <a:pt x="725" y="136"/>
                  </a:cubicBezTo>
                  <a:cubicBezTo>
                    <a:pt x="597" y="136"/>
                    <a:pt x="257" y="98"/>
                    <a:pt x="136" y="136"/>
                  </a:cubicBezTo>
                  <a:cubicBezTo>
                    <a:pt x="15" y="174"/>
                    <a:pt x="7" y="268"/>
                    <a:pt x="0" y="362"/>
                  </a:cubicBezTo>
                </a:path>
              </a:pathLst>
            </a:custGeom>
            <a:noFill/>
            <a:ln w="25400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4" name="Freeform 53"/>
            <p:cNvSpPr>
              <a:spLocks/>
            </p:cNvSpPr>
            <p:nvPr/>
          </p:nvSpPr>
          <p:spPr bwMode="auto">
            <a:xfrm>
              <a:off x="4150" y="1480"/>
              <a:ext cx="272" cy="1"/>
            </a:xfrm>
            <a:custGeom>
              <a:avLst/>
              <a:gdLst>
                <a:gd name="T0" fmla="*/ 272 w 272"/>
                <a:gd name="T1" fmla="*/ 0 h 1"/>
                <a:gd name="T2" fmla="*/ 0 w 272"/>
                <a:gd name="T3" fmla="*/ 0 h 1"/>
                <a:gd name="T4" fmla="*/ 0 60000 65536"/>
                <a:gd name="T5" fmla="*/ 0 60000 65536"/>
                <a:gd name="T6" fmla="*/ 0 w 272"/>
                <a:gd name="T7" fmla="*/ 0 h 1"/>
                <a:gd name="T8" fmla="*/ 272 w 272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2" h="1">
                  <a:moveTo>
                    <a:pt x="272" y="0"/>
                  </a:moveTo>
                  <a:cubicBezTo>
                    <a:pt x="272" y="0"/>
                    <a:pt x="136" y="0"/>
                    <a:pt x="0" y="0"/>
                  </a:cubicBezTo>
                </a:path>
              </a:pathLst>
            </a:custGeom>
            <a:noFill/>
            <a:ln w="25400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pic>
        <p:nvPicPr>
          <p:cNvPr id="16" name="图片 1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0270" y="1826041"/>
            <a:ext cx="792163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7" name="图片 16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9076" y="1368793"/>
            <a:ext cx="7191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8" name="Text Box 58"/>
          <p:cNvSpPr txBox="1">
            <a:spLocks noChangeArrowheads="1"/>
          </p:cNvSpPr>
          <p:nvPr/>
        </p:nvSpPr>
        <p:spPr bwMode="auto">
          <a:xfrm>
            <a:off x="2435788" y="4347008"/>
            <a:ext cx="26209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开启电压</a:t>
            </a:r>
            <a:r>
              <a:rPr lang="en-US" altLang="zh-CN" sz="24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Uon</a:t>
            </a:r>
            <a:endParaRPr lang="en-US" altLang="zh-CN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9" name="Rectangle 61"/>
          <p:cNvSpPr>
            <a:spLocks noChangeArrowheads="1"/>
          </p:cNvSpPr>
          <p:nvPr/>
        </p:nvSpPr>
        <p:spPr bwMode="auto">
          <a:xfrm>
            <a:off x="4407517" y="3433377"/>
            <a:ext cx="3024188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90000"/>
              <a:buFont typeface="Monotype Sorts" pitchFamily="2" charset="2"/>
              <a:buNone/>
            </a:pP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、反向截止</a:t>
            </a:r>
          </a:p>
        </p:txBody>
      </p:sp>
      <p:sp>
        <p:nvSpPr>
          <p:cNvPr id="20" name="Text Box 62"/>
          <p:cNvSpPr txBox="1">
            <a:spLocks noChangeArrowheads="1"/>
          </p:cNvSpPr>
          <p:nvPr/>
        </p:nvSpPr>
        <p:spPr bwMode="auto">
          <a:xfrm>
            <a:off x="6168231" y="4523581"/>
            <a:ext cx="3960813" cy="427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zh-CN" altLang="en-US" sz="2400" dirty="0">
                <a:solidFill>
                  <a:srgbClr val="00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反向饱和电流 </a:t>
            </a:r>
            <a:r>
              <a:rPr lang="en-US" altLang="zh-CN" sz="2400" dirty="0">
                <a:solidFill>
                  <a:srgbClr val="00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1600" dirty="0">
                <a:solidFill>
                  <a:srgbClr val="00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</a:t>
            </a:r>
          </a:p>
        </p:txBody>
      </p:sp>
      <p:sp>
        <p:nvSpPr>
          <p:cNvPr id="21" name="Text Box 63"/>
          <p:cNvSpPr txBox="1">
            <a:spLocks noChangeArrowheads="1"/>
          </p:cNvSpPr>
          <p:nvPr/>
        </p:nvSpPr>
        <p:spPr bwMode="auto">
          <a:xfrm>
            <a:off x="6168231" y="4018756"/>
            <a:ext cx="3960813" cy="427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FontTx/>
              <a:buNone/>
            </a:pPr>
            <a:r>
              <a:rPr lang="zh-CN" altLang="en-US" sz="2400" dirty="0">
                <a:solidFill>
                  <a:srgbClr val="00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反向击穿电压 </a:t>
            </a:r>
            <a:r>
              <a:rPr lang="en-US" altLang="zh-CN" sz="2400" dirty="0">
                <a:solidFill>
                  <a:srgbClr val="00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U</a:t>
            </a:r>
            <a:r>
              <a:rPr lang="zh-CN" altLang="en-US" sz="1600" dirty="0">
                <a:solidFill>
                  <a:srgbClr val="00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1600" dirty="0">
                <a:solidFill>
                  <a:srgbClr val="00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BR</a:t>
            </a:r>
            <a:r>
              <a:rPr lang="zh-CN" altLang="en-US" sz="1600" dirty="0">
                <a:solidFill>
                  <a:srgbClr val="00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</a:p>
        </p:txBody>
      </p:sp>
      <p:sp>
        <p:nvSpPr>
          <p:cNvPr id="22" name="Rectangle 65"/>
          <p:cNvSpPr>
            <a:spLocks noChangeArrowheads="1"/>
          </p:cNvSpPr>
          <p:nvPr/>
        </p:nvSpPr>
        <p:spPr bwMode="auto">
          <a:xfrm>
            <a:off x="228902" y="5388391"/>
            <a:ext cx="2956905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90000"/>
              <a:buFont typeface="Monotype Sorts" pitchFamily="2" charset="2"/>
              <a:buNone/>
            </a:pPr>
            <a:r>
              <a:rPr kumimoji="1"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kumimoji="1"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、温度的影响</a:t>
            </a:r>
          </a:p>
        </p:txBody>
      </p:sp>
      <p:graphicFrame>
        <p:nvGraphicFramePr>
          <p:cNvPr id="59" name="对象 5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1035591"/>
              </p:ext>
            </p:extLst>
          </p:nvPr>
        </p:nvGraphicFramePr>
        <p:xfrm>
          <a:off x="6114419" y="1050682"/>
          <a:ext cx="3511550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3" name="公式" r:id="rId7" imgW="2108200" imgH="368300" progId="Equation.3">
                  <p:embed/>
                </p:oleObj>
              </mc:Choice>
              <mc:Fallback>
                <p:oleObj name="公式" r:id="rId7" imgW="2108200" imgH="368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4419" y="1050682"/>
                        <a:ext cx="3511550" cy="615950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19050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Text Box 58"/>
          <p:cNvSpPr txBox="1">
            <a:spLocks noChangeArrowheads="1"/>
          </p:cNvSpPr>
          <p:nvPr/>
        </p:nvSpPr>
        <p:spPr bwMode="auto">
          <a:xfrm>
            <a:off x="4466268" y="1870877"/>
            <a:ext cx="3403926" cy="427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开启电压</a:t>
            </a:r>
            <a:r>
              <a:rPr lang="en-US" altLang="zh-CN" sz="24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Uon</a:t>
            </a:r>
            <a:endParaRPr lang="en-US" altLang="zh-CN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2" name="Text Box 5"/>
          <p:cNvSpPr txBox="1">
            <a:spLocks noChangeArrowheads="1"/>
          </p:cNvSpPr>
          <p:nvPr/>
        </p:nvSpPr>
        <p:spPr bwMode="auto">
          <a:xfrm>
            <a:off x="6501782" y="1865006"/>
            <a:ext cx="30956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buFontTx/>
              <a:buNone/>
            </a:pPr>
            <a:r>
              <a:rPr kumimoji="1" lang="zh-CN" altLang="en-US" sz="2000" dirty="0">
                <a:solidFill>
                  <a:srgbClr val="FF3300"/>
                </a:solidFill>
                <a:latin typeface="Times New Roman" panose="02020603050405020304" pitchFamily="18" charset="0"/>
              </a:rPr>
              <a:t>硅：</a:t>
            </a:r>
            <a:r>
              <a:rPr kumimoji="1" lang="en-US" altLang="zh-CN" sz="2000" dirty="0">
                <a:solidFill>
                  <a:srgbClr val="FF3300"/>
                </a:solidFill>
                <a:latin typeface="Times New Roman" panose="02020603050405020304" pitchFamily="18" charset="0"/>
              </a:rPr>
              <a:t>0.5 V        </a:t>
            </a:r>
            <a:r>
              <a:rPr kumimoji="1" lang="zh-CN" altLang="en-US" sz="2000" dirty="0">
                <a:solidFill>
                  <a:srgbClr val="FF3300"/>
                </a:solidFill>
                <a:latin typeface="Times New Roman" panose="02020603050405020304" pitchFamily="18" charset="0"/>
              </a:rPr>
              <a:t>锗：</a:t>
            </a:r>
            <a:r>
              <a:rPr kumimoji="1" lang="zh-CN" altLang="en-US" sz="2000" baseline="-25000" dirty="0">
                <a:solidFill>
                  <a:srgbClr val="FF33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000" dirty="0">
                <a:solidFill>
                  <a:srgbClr val="FF3300"/>
                </a:solidFill>
                <a:latin typeface="Times New Roman" panose="02020603050405020304" pitchFamily="18" charset="0"/>
              </a:rPr>
              <a:t>0.1 V</a:t>
            </a:r>
            <a:endParaRPr kumimoji="1" lang="en-US" altLang="zh-CN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4407517" y="2879225"/>
            <a:ext cx="4855816" cy="42736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导通电压：硅：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0.7 V 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锗：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0.2V</a:t>
            </a:r>
          </a:p>
        </p:txBody>
      </p:sp>
      <p:sp>
        <p:nvSpPr>
          <p:cNvPr id="66" name="矩形 65"/>
          <p:cNvSpPr/>
          <p:nvPr/>
        </p:nvSpPr>
        <p:spPr>
          <a:xfrm>
            <a:off x="182834" y="1962083"/>
            <a:ext cx="2031325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en-US" sz="2400" b="1" dirty="0" smtClean="0">
                <a:solidFill>
                  <a:srgbClr val="00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反向饱和电流</a:t>
            </a:r>
            <a:endParaRPr lang="en-US" altLang="zh-CN" sz="2400" b="1" dirty="0">
              <a:solidFill>
                <a:srgbClr val="0000CC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7" name="Rectangle 65"/>
          <p:cNvSpPr>
            <a:spLocks noChangeArrowheads="1"/>
          </p:cNvSpPr>
          <p:nvPr/>
        </p:nvSpPr>
        <p:spPr bwMode="auto">
          <a:xfrm>
            <a:off x="1065212" y="5946212"/>
            <a:ext cx="5954566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90000"/>
              <a:buFont typeface="Monotype Sorts" pitchFamily="2" charset="2"/>
              <a:buNone/>
            </a:pPr>
            <a:r>
              <a:rPr kumimoji="1" lang="zh-CN" altLang="en-US" sz="24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温度上升：正向特性右移，反向特性下移</a:t>
            </a:r>
            <a:endParaRPr kumimoji="1"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09315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6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293811" y="610873"/>
            <a:ext cx="3887787" cy="2012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2400" dirty="0" smtClean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400" dirty="0" smtClean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、最大整流电流 </a:t>
            </a:r>
            <a:r>
              <a:rPr kumimoji="1" lang="en-US" altLang="zh-CN" sz="2400" i="1" dirty="0" smtClean="0">
                <a:solidFill>
                  <a:srgbClr val="0000CC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i="1" baseline="-15000" dirty="0" smtClean="0">
                <a:solidFill>
                  <a:srgbClr val="0000CC"/>
                </a:solidFill>
                <a:latin typeface="Times New Roman" panose="02020603050405020304" pitchFamily="18" charset="0"/>
              </a:rPr>
              <a:t>F </a:t>
            </a:r>
            <a:endParaRPr lang="en-US" altLang="zh-CN" sz="2400" dirty="0" smtClean="0">
              <a:solidFill>
                <a:srgbClr val="6633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fontAlgn="base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2400" dirty="0" smtClean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400" dirty="0" smtClean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、最高反向工作电压</a:t>
            </a:r>
            <a:r>
              <a:rPr kumimoji="1" lang="en-US" altLang="zh-CN" sz="2400" i="1" dirty="0" smtClean="0">
                <a:solidFill>
                  <a:srgbClr val="0000CC"/>
                </a:solidFill>
                <a:latin typeface="Times New Roman" panose="02020603050405020304" pitchFamily="18" charset="0"/>
              </a:rPr>
              <a:t>U</a:t>
            </a:r>
            <a:r>
              <a:rPr kumimoji="1" lang="en-US" altLang="zh-CN" sz="2400" i="1" baseline="-15000" dirty="0" smtClean="0">
                <a:solidFill>
                  <a:srgbClr val="0000CC"/>
                </a:solidFill>
                <a:latin typeface="Times New Roman" panose="02020603050405020304" pitchFamily="18" charset="0"/>
              </a:rPr>
              <a:t>R</a:t>
            </a:r>
            <a:endParaRPr lang="en-US" altLang="zh-CN" sz="2400" dirty="0" smtClean="0">
              <a:solidFill>
                <a:srgbClr val="6633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 smtClean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400" dirty="0" smtClean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、反向电流 </a:t>
            </a:r>
            <a:r>
              <a:rPr kumimoji="1" lang="en-US" altLang="zh-CN" sz="2400" i="1" dirty="0" smtClean="0">
                <a:solidFill>
                  <a:srgbClr val="0000CC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i="1" baseline="-15000" dirty="0" smtClean="0">
                <a:solidFill>
                  <a:srgbClr val="0000CC"/>
                </a:solidFill>
                <a:latin typeface="Times New Roman" panose="02020603050405020304" pitchFamily="18" charset="0"/>
              </a:rPr>
              <a:t>R </a:t>
            </a:r>
            <a:endParaRPr kumimoji="1" lang="en-US" altLang="zh-CN" sz="2400" dirty="0" smtClean="0">
              <a:solidFill>
                <a:srgbClr val="0000CC"/>
              </a:solidFill>
              <a:latin typeface="Times New Roman" panose="02020603050405020304" pitchFamily="18" charset="0"/>
            </a:endParaRPr>
          </a:p>
          <a:p>
            <a:pPr eaLnBrk="1" fontAlgn="base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2400" dirty="0" smtClean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2400" dirty="0" smtClean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、最高工作频率</a:t>
            </a:r>
            <a:r>
              <a:rPr kumimoji="1" lang="en-US" altLang="zh-CN" sz="2400" i="1" dirty="0" err="1" smtClean="0">
                <a:solidFill>
                  <a:srgbClr val="0000CC"/>
                </a:solidFill>
                <a:latin typeface="Times New Roman" panose="02020603050405020304" pitchFamily="18" charset="0"/>
              </a:rPr>
              <a:t>f</a:t>
            </a:r>
            <a:r>
              <a:rPr kumimoji="1" lang="en-US" altLang="zh-CN" sz="2400" i="1" baseline="-15000" dirty="0" err="1" smtClean="0">
                <a:solidFill>
                  <a:srgbClr val="0000CC"/>
                </a:solidFill>
                <a:latin typeface="Times New Roman" panose="02020603050405020304" pitchFamily="18" charset="0"/>
              </a:rPr>
              <a:t>M</a:t>
            </a:r>
            <a:r>
              <a:rPr kumimoji="1" lang="en-US" altLang="zh-CN" sz="2400" i="1" baseline="-15000" dirty="0" smtClean="0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endParaRPr lang="en-US" altLang="zh-CN" sz="2400" kern="0" dirty="0">
              <a:solidFill>
                <a:srgbClr val="663300"/>
              </a:solidFill>
              <a:latin typeface="宋体" panose="02010600030101010101" pitchFamily="2" charset="-122"/>
              <a:ea typeface="+mj-ea"/>
              <a:cs typeface="+mj-cs"/>
            </a:endParaRPr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3831347"/>
              </p:ext>
            </p:extLst>
          </p:nvPr>
        </p:nvGraphicFramePr>
        <p:xfrm>
          <a:off x="4887897" y="978566"/>
          <a:ext cx="1452697" cy="741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6" name="Equation" r:id="rId3" imgW="825142" imgH="406224" progId="Equation.DSMT4">
                  <p:embed/>
                </p:oleObj>
              </mc:Choice>
              <mc:Fallback>
                <p:oleObj name="Equation" r:id="rId3" imgW="825142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7897" y="978566"/>
                        <a:ext cx="1452697" cy="7414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134815" y="30888"/>
            <a:ext cx="7166317" cy="612528"/>
          </a:xfrm>
        </p:spPr>
        <p:txBody>
          <a:bodyPr/>
          <a:lstStyle/>
          <a:p>
            <a:r>
              <a:rPr lang="en-US" altLang="zh-CN" sz="3200" kern="0" dirty="0" smtClean="0">
                <a:solidFill>
                  <a:srgbClr val="663300"/>
                </a:solidFill>
                <a:latin typeface="宋体" panose="02010600030101010101" pitchFamily="2" charset="-122"/>
              </a:rPr>
              <a:t>★</a:t>
            </a:r>
            <a:r>
              <a:rPr lang="zh-CN" altLang="en-US" sz="3200" b="1" dirty="0" smtClean="0">
                <a:solidFill>
                  <a:srgbClr val="663300"/>
                </a:solidFill>
                <a:ea typeface="华文新魏" panose="02010800040101010101" pitchFamily="2" charset="-122"/>
              </a:rPr>
              <a:t>三、主要参数</a:t>
            </a: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134815" y="2623732"/>
            <a:ext cx="8151056" cy="7384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kern="0" dirty="0" smtClean="0">
                <a:solidFill>
                  <a:srgbClr val="663300"/>
                </a:solidFill>
                <a:latin typeface="宋体" panose="02010600030101010101" pitchFamily="2" charset="-122"/>
              </a:rPr>
              <a:t>★ ★ ★</a:t>
            </a:r>
            <a:r>
              <a:rPr lang="zh-CN" altLang="en-US" sz="3200" b="1" dirty="0">
                <a:solidFill>
                  <a:srgbClr val="663300"/>
                </a:solidFill>
                <a:ea typeface="华文新魏" panose="02010800040101010101" pitchFamily="2" charset="-122"/>
              </a:rPr>
              <a:t>四</a:t>
            </a:r>
            <a:r>
              <a:rPr lang="zh-CN" altLang="en-US" sz="3200" b="1" dirty="0" smtClean="0">
                <a:solidFill>
                  <a:srgbClr val="663300"/>
                </a:solidFill>
                <a:ea typeface="华文新魏" panose="02010800040101010101" pitchFamily="2" charset="-122"/>
              </a:rPr>
              <a:t>、等效电路：线性化</a:t>
            </a:r>
            <a:endParaRPr lang="zh-CN" altLang="en-US" sz="3200" b="1" dirty="0">
              <a:solidFill>
                <a:srgbClr val="663300"/>
              </a:solidFill>
              <a:ea typeface="华文新魏" panose="02010800040101010101" pitchFamily="2" charset="-122"/>
            </a:endParaRPr>
          </a:p>
        </p:txBody>
      </p:sp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655969" y="3203717"/>
            <a:ext cx="11369249" cy="3527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2400" dirty="0" smtClean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400" dirty="0" smtClean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、直流信号作用模型：</a:t>
            </a:r>
            <a:endParaRPr lang="en-US" altLang="zh-CN" sz="2400" dirty="0" smtClean="0">
              <a:solidFill>
                <a:srgbClr val="6633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fontAlgn="base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</a:pPr>
            <a:r>
              <a:rPr lang="zh-CN" altLang="en-US" sz="2400" dirty="0" smtClean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2400" dirty="0" smtClean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400" dirty="0" smtClean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）理想开关模型：</a:t>
            </a:r>
            <a:endParaRPr lang="en-US" altLang="zh-CN" sz="2400" dirty="0" smtClean="0">
              <a:solidFill>
                <a:srgbClr val="6633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fontAlgn="base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2400" dirty="0" smtClean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zh-CN" altLang="en-US" sz="2400" dirty="0" smtClean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、特征：正向</a:t>
            </a:r>
            <a:r>
              <a:rPr kumimoji="1" lang="en-US" altLang="zh-CN" sz="2400" i="1" dirty="0" smtClean="0">
                <a:latin typeface="Times New Roman" pitchFamily="18" charset="0"/>
              </a:rPr>
              <a:t>U</a:t>
            </a:r>
            <a:r>
              <a:rPr kumimoji="1" lang="en-US" altLang="zh-CN" sz="2400" baseline="-25000" dirty="0" smtClean="0">
                <a:latin typeface="Times New Roman" pitchFamily="18" charset="0"/>
              </a:rPr>
              <a:t>D</a:t>
            </a:r>
            <a:r>
              <a:rPr kumimoji="1" lang="zh-CN" altLang="en-US" sz="2400" dirty="0">
                <a:latin typeface="Times New Roman" pitchFamily="18" charset="0"/>
              </a:rPr>
              <a:t>＝</a:t>
            </a:r>
            <a:r>
              <a:rPr kumimoji="1" lang="en-US" altLang="zh-CN" sz="2400" dirty="0" smtClean="0">
                <a:latin typeface="Times New Roman" pitchFamily="18" charset="0"/>
              </a:rPr>
              <a:t>0</a:t>
            </a:r>
            <a:r>
              <a:rPr lang="zh-CN" altLang="en-US" sz="2400" dirty="0" smtClean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，反向</a:t>
            </a:r>
            <a:r>
              <a:rPr kumimoji="1" lang="en-US" altLang="zh-CN" sz="2400" i="1" dirty="0" smtClean="0">
                <a:latin typeface="Times New Roman" pitchFamily="18" charset="0"/>
              </a:rPr>
              <a:t>I</a:t>
            </a:r>
            <a:r>
              <a:rPr kumimoji="1" lang="en-US" altLang="zh-CN" sz="2400" baseline="-25000" dirty="0" smtClean="0">
                <a:latin typeface="Times New Roman" pitchFamily="18" charset="0"/>
              </a:rPr>
              <a:t>S</a:t>
            </a:r>
            <a:r>
              <a:rPr kumimoji="1" lang="zh-CN" altLang="en-US" sz="2400" dirty="0">
                <a:latin typeface="Times New Roman" pitchFamily="18" charset="0"/>
              </a:rPr>
              <a:t>＝</a:t>
            </a:r>
            <a:r>
              <a:rPr kumimoji="1" lang="en-US" altLang="zh-CN" sz="2400" dirty="0" smtClean="0">
                <a:latin typeface="Times New Roman" pitchFamily="18" charset="0"/>
              </a:rPr>
              <a:t>0</a:t>
            </a:r>
            <a:r>
              <a:rPr lang="zh-CN" altLang="en-US" sz="2400" dirty="0" smtClean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en-US" altLang="zh-CN" sz="2400" dirty="0" smtClean="0">
              <a:solidFill>
                <a:srgbClr val="6633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fontAlgn="base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2400" dirty="0" smtClean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lang="zh-CN" altLang="en-US" sz="2400" dirty="0" smtClean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、适用场合：外加电压几十倍于</a:t>
            </a:r>
            <a:r>
              <a:rPr kumimoji="1" lang="en-US" altLang="zh-CN" sz="2400" i="1" dirty="0" smtClean="0">
                <a:latin typeface="Times New Roman" pitchFamily="18" charset="0"/>
              </a:rPr>
              <a:t>U</a:t>
            </a:r>
            <a:r>
              <a:rPr kumimoji="1" lang="en-US" altLang="zh-CN" sz="2400" baseline="-25000" dirty="0" smtClean="0">
                <a:latin typeface="Times New Roman" pitchFamily="18" charset="0"/>
              </a:rPr>
              <a:t>D</a:t>
            </a:r>
            <a:endParaRPr lang="en-US" altLang="zh-CN" sz="2400" dirty="0">
              <a:solidFill>
                <a:srgbClr val="6633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fontAlgn="base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</a:pPr>
            <a:r>
              <a:rPr lang="zh-CN" altLang="en-US" sz="2400" dirty="0" smtClean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2400" dirty="0" smtClean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400" dirty="0" smtClean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）恒压源模型：</a:t>
            </a:r>
            <a:endParaRPr lang="en-US" altLang="zh-CN" sz="2400" dirty="0" smtClean="0">
              <a:solidFill>
                <a:srgbClr val="6633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fontAlgn="base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2400" dirty="0" smtClean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a</a:t>
            </a:r>
            <a:r>
              <a:rPr lang="zh-CN" altLang="en-US" sz="2400" dirty="0" smtClean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、特征：正向导通</a:t>
            </a:r>
            <a:r>
              <a:rPr kumimoji="1" lang="en-US" altLang="zh-CN" sz="2400" i="1" dirty="0" smtClean="0">
                <a:latin typeface="Times New Roman" pitchFamily="18" charset="0"/>
              </a:rPr>
              <a:t>U</a:t>
            </a:r>
            <a:r>
              <a:rPr kumimoji="1" lang="en-US" altLang="zh-CN" sz="2400" baseline="-25000" dirty="0" smtClean="0">
                <a:latin typeface="Times New Roman" pitchFamily="18" charset="0"/>
              </a:rPr>
              <a:t>D</a:t>
            </a:r>
            <a:r>
              <a:rPr lang="zh-CN" altLang="en-US" sz="2400" dirty="0" smtClean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常数（硅管 </a:t>
            </a:r>
            <a:r>
              <a:rPr lang="en-US" altLang="zh-CN" sz="2400" dirty="0" smtClean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0.7V</a:t>
            </a:r>
            <a:r>
              <a:rPr lang="zh-CN" altLang="en-US" sz="2400" dirty="0" smtClean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；锗管 </a:t>
            </a:r>
            <a:r>
              <a:rPr lang="en-US" altLang="zh-CN" sz="2400" dirty="0" smtClean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0.2V</a:t>
            </a:r>
            <a:r>
              <a:rPr lang="zh-CN" altLang="en-US" sz="2400" dirty="0" smtClean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），反向截止</a:t>
            </a:r>
            <a:r>
              <a:rPr kumimoji="1" lang="en-US" altLang="zh-CN" sz="2400" i="1" dirty="0" smtClean="0">
                <a:latin typeface="Times New Roman" pitchFamily="18" charset="0"/>
              </a:rPr>
              <a:t>I</a:t>
            </a:r>
            <a:r>
              <a:rPr kumimoji="1" lang="en-US" altLang="zh-CN" sz="2400" baseline="-25000" dirty="0" smtClean="0">
                <a:latin typeface="Times New Roman" pitchFamily="18" charset="0"/>
              </a:rPr>
              <a:t>S</a:t>
            </a:r>
            <a:r>
              <a:rPr kumimoji="1" lang="zh-CN" altLang="en-US" sz="2400" dirty="0" smtClean="0">
                <a:latin typeface="Times New Roman" pitchFamily="18" charset="0"/>
              </a:rPr>
              <a:t>＝</a:t>
            </a:r>
            <a:r>
              <a:rPr kumimoji="1" lang="en-US" altLang="zh-CN" sz="2400" dirty="0" smtClean="0">
                <a:latin typeface="Times New Roman" pitchFamily="18" charset="0"/>
              </a:rPr>
              <a:t>0</a:t>
            </a:r>
          </a:p>
          <a:p>
            <a:pPr eaLnBrk="1" fontAlgn="base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2400" dirty="0" smtClean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b</a:t>
            </a:r>
            <a:r>
              <a:rPr lang="zh-CN" altLang="en-US" sz="2400" dirty="0" smtClean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、适用场合：外加电压几倍于</a:t>
            </a:r>
            <a:r>
              <a:rPr kumimoji="1" lang="en-US" altLang="zh-CN" sz="2400" i="1" dirty="0" smtClean="0">
                <a:latin typeface="Times New Roman" pitchFamily="18" charset="0"/>
              </a:rPr>
              <a:t>U</a:t>
            </a:r>
            <a:r>
              <a:rPr kumimoji="1" lang="en-US" altLang="zh-CN" sz="2400" baseline="-25000" dirty="0" smtClean="0">
                <a:latin typeface="Times New Roman" pitchFamily="18" charset="0"/>
              </a:rPr>
              <a:t>D</a:t>
            </a:r>
            <a:r>
              <a:rPr lang="zh-CN" altLang="en-US" sz="2400" dirty="0" smtClean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时</a:t>
            </a:r>
            <a:endParaRPr lang="en-US" altLang="zh-CN" sz="2400" dirty="0">
              <a:solidFill>
                <a:srgbClr val="6633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30" name="Picture 3" descr="Dz010204"/>
          <p:cNvPicPr>
            <a:picLocks noChangeAspect="1" noChangeArrowheads="1"/>
          </p:cNvPicPr>
          <p:nvPr/>
        </p:nvPicPr>
        <p:blipFill>
          <a:blip r:embed="rId5"/>
          <a:srcRect b="11337"/>
          <a:stretch>
            <a:fillRect/>
          </a:stretch>
        </p:blipFill>
        <p:spPr bwMode="auto">
          <a:xfrm>
            <a:off x="5828888" y="3362183"/>
            <a:ext cx="6363112" cy="214607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26457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9615" y="3052689"/>
            <a:ext cx="10515600" cy="3797689"/>
          </a:xfrm>
        </p:spPr>
        <p:txBody>
          <a:bodyPr>
            <a:normAutofit/>
          </a:bodyPr>
          <a:lstStyle/>
          <a:p>
            <a:pPr marL="0" indent="0" fontAlgn="base">
              <a:spcBef>
                <a:spcPct val="50000"/>
              </a:spcBef>
              <a:spcAft>
                <a:spcPct val="0"/>
              </a:spcAft>
              <a:buNone/>
            </a:pPr>
            <a:r>
              <a:rPr lang="en-US" altLang="zh-CN" b="1" dirty="0" smtClean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b="1" dirty="0" smtClean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交流微变等效：直流信号基础上叠加交流信号</a:t>
            </a:r>
            <a:endParaRPr lang="zh-CN" altLang="en-US" b="1" dirty="0"/>
          </a:p>
        </p:txBody>
      </p:sp>
      <p:pic>
        <p:nvPicPr>
          <p:cNvPr id="30" name="Picture 3" descr="Dz010207"/>
          <p:cNvPicPr>
            <a:picLocks noChangeAspect="1" noChangeArrowheads="1"/>
          </p:cNvPicPr>
          <p:nvPr/>
        </p:nvPicPr>
        <p:blipFill>
          <a:blip r:embed="rId3"/>
          <a:srcRect r="51021" b="24913"/>
          <a:stretch>
            <a:fillRect/>
          </a:stretch>
        </p:blipFill>
        <p:spPr bwMode="auto">
          <a:xfrm>
            <a:off x="3525715" y="3854017"/>
            <a:ext cx="4343400" cy="2516188"/>
          </a:xfrm>
          <a:prstGeom prst="rect">
            <a:avLst/>
          </a:prstGeom>
          <a:noFill/>
        </p:spPr>
      </p:pic>
      <p:sp>
        <p:nvSpPr>
          <p:cNvPr id="31" name="AutoShape 8"/>
          <p:cNvSpPr>
            <a:spLocks/>
          </p:cNvSpPr>
          <p:nvPr/>
        </p:nvSpPr>
        <p:spPr bwMode="auto">
          <a:xfrm>
            <a:off x="1716269" y="5112111"/>
            <a:ext cx="2447559" cy="733449"/>
          </a:xfrm>
          <a:prstGeom prst="borderCallout1">
            <a:avLst>
              <a:gd name="adj1" fmla="val 22644"/>
              <a:gd name="adj2" fmla="val 102403"/>
              <a:gd name="adj3" fmla="val -43251"/>
              <a:gd name="adj4" fmla="val 147856"/>
            </a:avLst>
          </a:prstGeom>
          <a:solidFill>
            <a:srgbClr val="FFFFCC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i="1" dirty="0" err="1">
                <a:solidFill>
                  <a:srgbClr val="000000"/>
                </a:solidFill>
                <a:latin typeface="Times New Roman" pitchFamily="18" charset="0"/>
              </a:rPr>
              <a:t>u</a:t>
            </a:r>
            <a:r>
              <a:rPr kumimoji="1" lang="en-US" altLang="zh-CN" sz="2400" b="1" baseline="-25000" dirty="0" err="1">
                <a:solidFill>
                  <a:srgbClr val="000000"/>
                </a:solidFill>
                <a:latin typeface="Times New Roman" pitchFamily="18" charset="0"/>
              </a:rPr>
              <a:t>i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=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itchFamily="18" charset="0"/>
              </a:rPr>
              <a:t>0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Times New Roman" pitchFamily="18" charset="0"/>
              </a:rPr>
              <a:t>时</a:t>
            </a:r>
            <a:endParaRPr kumimoji="1" lang="en-US" altLang="zh-CN" sz="2400" b="1" dirty="0" smtClean="0">
              <a:solidFill>
                <a:srgbClr val="000000"/>
              </a:solidFill>
              <a:latin typeface="Times New Roman" pitchFamily="18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 smtClean="0">
                <a:solidFill>
                  <a:srgbClr val="000000"/>
                </a:solidFill>
                <a:latin typeface="Times New Roman" pitchFamily="18" charset="0"/>
              </a:rPr>
              <a:t>直流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</a:rPr>
              <a:t>电源作用</a:t>
            </a:r>
          </a:p>
        </p:txBody>
      </p:sp>
      <p:sp>
        <p:nvSpPr>
          <p:cNvPr id="32" name="AutoShape 9"/>
          <p:cNvSpPr>
            <a:spLocks/>
          </p:cNvSpPr>
          <p:nvPr/>
        </p:nvSpPr>
        <p:spPr bwMode="auto">
          <a:xfrm>
            <a:off x="6096000" y="6046170"/>
            <a:ext cx="1803817" cy="467604"/>
          </a:xfrm>
          <a:prstGeom prst="borderCallout1">
            <a:avLst>
              <a:gd name="adj1" fmla="val 29096"/>
              <a:gd name="adj2" fmla="val -1998"/>
              <a:gd name="adj3" fmla="val -37071"/>
              <a:gd name="adj4" fmla="val -42445"/>
            </a:avLst>
          </a:prstGeom>
          <a:solidFill>
            <a:srgbClr val="FFFFCC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</a:rPr>
              <a:t>小信号作用</a:t>
            </a:r>
          </a:p>
        </p:txBody>
      </p:sp>
      <p:graphicFrame>
        <p:nvGraphicFramePr>
          <p:cNvPr id="3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9865603"/>
              </p:ext>
            </p:extLst>
          </p:nvPr>
        </p:nvGraphicFramePr>
        <p:xfrm>
          <a:off x="8858420" y="4491950"/>
          <a:ext cx="1107489" cy="92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Equation" r:id="rId4" imgW="533169" imgH="444307" progId="Equation.DSMT4">
                  <p:embed/>
                </p:oleObj>
              </mc:Choice>
              <mc:Fallback>
                <p:oleObj name="Equation" r:id="rId4" imgW="533169" imgH="4443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58420" y="4491950"/>
                        <a:ext cx="1107489" cy="92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矩形 37"/>
          <p:cNvSpPr/>
          <p:nvPr/>
        </p:nvSpPr>
        <p:spPr>
          <a:xfrm>
            <a:off x="901907" y="957447"/>
            <a:ext cx="9064001" cy="146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None/>
            </a:pPr>
            <a:r>
              <a:rPr lang="zh-CN" altLang="en-US" sz="2400" b="1" dirty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2400" b="1" dirty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400" b="1" dirty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）电压源串电阻模型：</a:t>
            </a:r>
            <a:endParaRPr lang="en-US" altLang="zh-CN" sz="2400" b="1" dirty="0">
              <a:solidFill>
                <a:srgbClr val="6633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fontAlgn="base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None/>
            </a:pPr>
            <a:r>
              <a:rPr lang="en-US" altLang="zh-CN" sz="2400" b="1" dirty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a</a:t>
            </a:r>
            <a:r>
              <a:rPr lang="zh-CN" altLang="en-US" sz="2400" b="1" dirty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、特征： </a:t>
            </a:r>
            <a:r>
              <a:rPr lang="en-US" altLang="zh-CN" sz="2400" b="1" dirty="0" err="1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Uon</a:t>
            </a:r>
            <a:r>
              <a:rPr lang="en-US" altLang="zh-CN" sz="2400" b="1" dirty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2400" b="1" dirty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lang="en-US" altLang="zh-CN" sz="2400" b="1" dirty="0" err="1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</a:t>
            </a:r>
            <a:r>
              <a:rPr lang="en-US" altLang="zh-CN" sz="1400" b="1" dirty="0" err="1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</a:t>
            </a:r>
            <a:r>
              <a:rPr lang="en-US" altLang="zh-CN" sz="2400" b="1" dirty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2400" b="1" dirty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需测量</a:t>
            </a:r>
            <a:endParaRPr lang="en-US" altLang="zh-CN" sz="2400" b="1" dirty="0">
              <a:solidFill>
                <a:srgbClr val="6633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fontAlgn="base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None/>
            </a:pPr>
            <a:r>
              <a:rPr lang="en-US" altLang="zh-CN" sz="2400" b="1" dirty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b</a:t>
            </a:r>
            <a:r>
              <a:rPr lang="zh-CN" altLang="en-US" sz="2400" b="1" dirty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、适用场合：外加电压接近</a:t>
            </a:r>
            <a:r>
              <a:rPr lang="en-US" altLang="zh-CN" sz="2400" b="1" dirty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U</a:t>
            </a:r>
            <a:r>
              <a:rPr lang="en-US" altLang="zh-CN" b="1" dirty="0">
                <a:solidFill>
                  <a:srgbClr val="66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418605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 autoUpdateAnimBg="0"/>
      <p:bldP spid="32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kern="0" dirty="0" smtClean="0">
                <a:solidFill>
                  <a:srgbClr val="663300"/>
                </a:solidFill>
                <a:latin typeface="宋体" panose="02010600030101010101" pitchFamily="2" charset="-122"/>
              </a:rPr>
              <a:t>★ ★ ★</a:t>
            </a:r>
            <a:r>
              <a:rPr lang="zh-CN" altLang="en-US" sz="3200" b="1" dirty="0" smtClean="0">
                <a:solidFill>
                  <a:srgbClr val="663300"/>
                </a:solidFill>
                <a:ea typeface="华文新魏" panose="02010800040101010101" pitchFamily="2" charset="-122"/>
              </a:rPr>
              <a:t>四、二极管应用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555652" y="1690687"/>
            <a:ext cx="8868508" cy="420066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90000"/>
              </a:lnSpc>
              <a:spcBef>
                <a:spcPct val="0"/>
              </a:spcBef>
              <a:buNone/>
              <a:defRPr/>
            </a:pPr>
            <a:r>
              <a:rPr lang="en-US" altLang="zh-CN" sz="2800" b="1" dirty="0" smtClean="0">
                <a:solidFill>
                  <a:srgbClr val="663300"/>
                </a:solidFill>
                <a:ea typeface="华文新魏" panose="02010800040101010101" pitchFamily="2" charset="-122"/>
              </a:rPr>
              <a:t>1</a:t>
            </a:r>
            <a:r>
              <a:rPr lang="zh-CN" altLang="en-US" sz="2800" b="1" dirty="0" smtClean="0">
                <a:solidFill>
                  <a:srgbClr val="663300"/>
                </a:solidFill>
                <a:ea typeface="华文新魏" panose="02010800040101010101" pitchFamily="2" charset="-122"/>
              </a:rPr>
              <a:t>、方法</a:t>
            </a:r>
            <a:r>
              <a:rPr lang="zh-CN" altLang="en-US" sz="2800" b="1" dirty="0" smtClean="0">
                <a:solidFill>
                  <a:srgbClr val="663300"/>
                </a:solidFill>
                <a:latin typeface="+mj-lt"/>
                <a:ea typeface="华文新魏" panose="02010800040101010101" pitchFamily="2" charset="-122"/>
                <a:cs typeface="+mj-cs"/>
              </a:rPr>
              <a:t>：</a:t>
            </a:r>
            <a:endParaRPr lang="en-US" altLang="zh-CN" sz="2800" b="1" dirty="0" smtClean="0">
              <a:solidFill>
                <a:srgbClr val="663300"/>
              </a:solidFill>
              <a:latin typeface="+mj-lt"/>
              <a:ea typeface="华文新魏" panose="02010800040101010101" pitchFamily="2" charset="-122"/>
              <a:cs typeface="+mj-cs"/>
            </a:endParaRPr>
          </a:p>
          <a:p>
            <a:pPr marL="0" indent="0" eaLnBrk="1" hangingPunct="1">
              <a:lnSpc>
                <a:spcPct val="90000"/>
              </a:lnSpc>
              <a:spcBef>
                <a:spcPct val="0"/>
              </a:spcBef>
              <a:buNone/>
              <a:defRPr/>
            </a:pPr>
            <a:endParaRPr lang="en-US" altLang="zh-CN" sz="2800" b="1" dirty="0" smtClean="0">
              <a:solidFill>
                <a:srgbClr val="663300"/>
              </a:solidFill>
              <a:latin typeface="+mj-lt"/>
              <a:ea typeface="华文新魏" panose="02010800040101010101" pitchFamily="2" charset="-122"/>
              <a:cs typeface="+mj-cs"/>
            </a:endParaRPr>
          </a:p>
          <a:p>
            <a:pPr marL="0" indent="0" eaLnBrk="1" hangingPunct="1">
              <a:lnSpc>
                <a:spcPct val="90000"/>
              </a:lnSpc>
              <a:spcBef>
                <a:spcPct val="0"/>
              </a:spcBef>
              <a:buNone/>
              <a:defRPr/>
            </a:pPr>
            <a:r>
              <a:rPr lang="zh-CN" altLang="en-US" sz="2800" b="1" dirty="0" smtClean="0">
                <a:solidFill>
                  <a:srgbClr val="663300"/>
                </a:solidFill>
                <a:latin typeface="+mj-lt"/>
                <a:ea typeface="华文新魏" panose="02010800040101010101" pitchFamily="2" charset="-122"/>
                <a:cs typeface="+mj-cs"/>
              </a:rPr>
              <a:t>第一</a:t>
            </a:r>
            <a:r>
              <a:rPr lang="zh-CN" altLang="en-US" sz="2800" b="1" dirty="0">
                <a:solidFill>
                  <a:srgbClr val="663300"/>
                </a:solidFill>
                <a:latin typeface="+mj-lt"/>
                <a:ea typeface="华文新魏" panose="02010800040101010101" pitchFamily="2" charset="-122"/>
                <a:cs typeface="+mj-cs"/>
              </a:rPr>
              <a:t>步：选择二极管的等效</a:t>
            </a:r>
            <a:r>
              <a:rPr lang="zh-CN" altLang="en-US" sz="2800" b="1" dirty="0" smtClean="0">
                <a:solidFill>
                  <a:srgbClr val="663300"/>
                </a:solidFill>
                <a:latin typeface="+mj-lt"/>
                <a:ea typeface="华文新魏" panose="02010800040101010101" pitchFamily="2" charset="-122"/>
                <a:cs typeface="+mj-cs"/>
              </a:rPr>
              <a:t>模型</a:t>
            </a:r>
            <a:endParaRPr lang="en-US" altLang="zh-CN" sz="2800" b="1" dirty="0" smtClean="0">
              <a:solidFill>
                <a:srgbClr val="663300"/>
              </a:solidFill>
              <a:latin typeface="+mj-lt"/>
              <a:ea typeface="华文新魏" panose="02010800040101010101" pitchFamily="2" charset="-122"/>
              <a:cs typeface="+mj-cs"/>
            </a:endParaRPr>
          </a:p>
          <a:p>
            <a:pPr marL="0" indent="0" eaLnBrk="1" hangingPunct="1">
              <a:lnSpc>
                <a:spcPct val="90000"/>
              </a:lnSpc>
              <a:spcBef>
                <a:spcPct val="0"/>
              </a:spcBef>
              <a:buNone/>
              <a:defRPr/>
            </a:pPr>
            <a:endParaRPr lang="en-US" altLang="zh-CN" sz="2800" b="1" dirty="0">
              <a:solidFill>
                <a:srgbClr val="663300"/>
              </a:solidFill>
              <a:latin typeface="+mj-lt"/>
              <a:ea typeface="华文新魏" panose="02010800040101010101" pitchFamily="2" charset="-122"/>
              <a:cs typeface="+mj-cs"/>
            </a:endParaRPr>
          </a:p>
          <a:p>
            <a:pPr marL="0" indent="0" eaLnBrk="1" hangingPunct="1">
              <a:lnSpc>
                <a:spcPct val="90000"/>
              </a:lnSpc>
              <a:spcBef>
                <a:spcPct val="0"/>
              </a:spcBef>
              <a:buNone/>
              <a:defRPr/>
            </a:pPr>
            <a:r>
              <a:rPr lang="zh-CN" altLang="en-US" sz="2800" b="1" dirty="0" smtClean="0">
                <a:solidFill>
                  <a:srgbClr val="663300"/>
                </a:solidFill>
                <a:latin typeface="+mj-lt"/>
                <a:ea typeface="华文新魏" panose="02010800040101010101" pitchFamily="2" charset="-122"/>
                <a:cs typeface="+mj-cs"/>
              </a:rPr>
              <a:t>第二步：断开理想二极管</a:t>
            </a:r>
            <a:r>
              <a:rPr lang="zh-CN" altLang="en-US" sz="2800" b="1" dirty="0">
                <a:solidFill>
                  <a:srgbClr val="663300"/>
                </a:solidFill>
                <a:latin typeface="+mj-lt"/>
                <a:ea typeface="华文新魏" panose="02010800040101010101" pitchFamily="2" charset="-122"/>
                <a:cs typeface="+mj-cs"/>
              </a:rPr>
              <a:t>，</a:t>
            </a:r>
            <a:r>
              <a:rPr lang="zh-CN" altLang="en-US" sz="2800" b="1" dirty="0" smtClean="0">
                <a:solidFill>
                  <a:srgbClr val="663300"/>
                </a:solidFill>
                <a:latin typeface="+mj-lt"/>
                <a:ea typeface="华文新魏" panose="02010800040101010101" pitchFamily="2" charset="-122"/>
                <a:cs typeface="+mj-cs"/>
              </a:rPr>
              <a:t>计算理想二极管</a:t>
            </a:r>
            <a:r>
              <a:rPr lang="zh-CN" altLang="en-US" sz="2800" b="1" dirty="0">
                <a:solidFill>
                  <a:srgbClr val="663300"/>
                </a:solidFill>
                <a:latin typeface="+mj-lt"/>
                <a:ea typeface="华文新魏" panose="02010800040101010101" pitchFamily="2" charset="-122"/>
                <a:cs typeface="+mj-cs"/>
              </a:rPr>
              <a:t>的</a:t>
            </a:r>
            <a:r>
              <a:rPr lang="zh-CN" altLang="en-US" sz="2800" b="1" dirty="0" smtClean="0">
                <a:solidFill>
                  <a:srgbClr val="663300"/>
                </a:solidFill>
                <a:latin typeface="+mj-lt"/>
                <a:ea typeface="华文新魏" panose="02010800040101010101" pitchFamily="2" charset="-122"/>
                <a:cs typeface="+mj-cs"/>
              </a:rPr>
              <a:t>阳极电压     和</a:t>
            </a:r>
            <a:r>
              <a:rPr lang="zh-CN" altLang="en-US" sz="2800" b="1" dirty="0">
                <a:solidFill>
                  <a:srgbClr val="663300"/>
                </a:solidFill>
                <a:latin typeface="+mj-lt"/>
                <a:ea typeface="华文新魏" panose="02010800040101010101" pitchFamily="2" charset="-122"/>
                <a:cs typeface="+mj-cs"/>
              </a:rPr>
              <a:t>阴极</a:t>
            </a:r>
            <a:r>
              <a:rPr lang="zh-CN" altLang="en-US" sz="2800" b="1" dirty="0" smtClean="0">
                <a:solidFill>
                  <a:srgbClr val="663300"/>
                </a:solidFill>
                <a:latin typeface="+mj-lt"/>
                <a:ea typeface="华文新魏" panose="02010800040101010101" pitchFamily="2" charset="-122"/>
                <a:cs typeface="+mj-cs"/>
              </a:rPr>
              <a:t>电压，判断</a:t>
            </a:r>
            <a:r>
              <a:rPr lang="zh-CN" altLang="en-US" sz="2800" b="1" dirty="0">
                <a:solidFill>
                  <a:srgbClr val="663300"/>
                </a:solidFill>
                <a:latin typeface="+mj-lt"/>
                <a:ea typeface="华文新魏" panose="02010800040101010101" pitchFamily="2" charset="-122"/>
                <a:cs typeface="+mj-cs"/>
              </a:rPr>
              <a:t>等效模型中理想二极管的工作状态</a:t>
            </a:r>
            <a:r>
              <a:rPr lang="zh-CN" altLang="en-US" sz="2800" b="1" dirty="0" smtClean="0">
                <a:solidFill>
                  <a:srgbClr val="663300"/>
                </a:solidFill>
                <a:latin typeface="+mj-lt"/>
                <a:ea typeface="华文新魏" panose="02010800040101010101" pitchFamily="2" charset="-122"/>
                <a:cs typeface="+mj-cs"/>
              </a:rPr>
              <a:t>，</a:t>
            </a:r>
            <a:endParaRPr lang="en-US" altLang="zh-CN" sz="2800" b="1" dirty="0" smtClean="0">
              <a:solidFill>
                <a:srgbClr val="663300"/>
              </a:solidFill>
              <a:latin typeface="+mj-lt"/>
              <a:ea typeface="华文新魏" panose="02010800040101010101" pitchFamily="2" charset="-122"/>
              <a:cs typeface="+mj-cs"/>
            </a:endParaRPr>
          </a:p>
          <a:p>
            <a:pPr marL="0" indent="0" eaLnBrk="1" hangingPunct="1">
              <a:lnSpc>
                <a:spcPct val="90000"/>
              </a:lnSpc>
              <a:spcBef>
                <a:spcPct val="0"/>
              </a:spcBef>
              <a:buNone/>
              <a:defRPr/>
            </a:pPr>
            <a:endParaRPr lang="en-US" altLang="zh-CN" sz="2800" b="1" dirty="0" smtClean="0">
              <a:solidFill>
                <a:srgbClr val="663300"/>
              </a:solidFill>
              <a:latin typeface="+mj-lt"/>
              <a:ea typeface="华文新魏" panose="02010800040101010101" pitchFamily="2" charset="-122"/>
              <a:cs typeface="+mj-cs"/>
            </a:endParaRPr>
          </a:p>
          <a:p>
            <a:pPr marL="0" indent="0" eaLnBrk="1" hangingPunct="1">
              <a:lnSpc>
                <a:spcPct val="90000"/>
              </a:lnSpc>
              <a:spcBef>
                <a:spcPct val="0"/>
              </a:spcBef>
              <a:buNone/>
              <a:defRPr/>
            </a:pPr>
            <a:r>
              <a:rPr lang="zh-CN" altLang="en-US" sz="2800" b="1" dirty="0" smtClean="0">
                <a:solidFill>
                  <a:srgbClr val="663300"/>
                </a:solidFill>
                <a:latin typeface="+mj-lt"/>
                <a:ea typeface="华文新魏" panose="02010800040101010101" pitchFamily="2" charset="-122"/>
                <a:cs typeface="+mj-cs"/>
              </a:rPr>
              <a:t>第三步：由第二步得到对应电路，应用电路知识进行求解</a:t>
            </a:r>
            <a:endParaRPr lang="en-US" altLang="zh-CN" sz="2800" b="1" dirty="0" smtClean="0">
              <a:solidFill>
                <a:srgbClr val="663300"/>
              </a:solidFill>
              <a:latin typeface="+mj-lt"/>
              <a:ea typeface="华文新魏" panose="02010800040101010101" pitchFamily="2" charset="-122"/>
              <a:cs typeface="+mj-cs"/>
            </a:endParaRPr>
          </a:p>
          <a:p>
            <a:pPr marL="0" indent="0" eaLnBrk="1" hangingPunct="1">
              <a:lnSpc>
                <a:spcPct val="90000"/>
              </a:lnSpc>
              <a:spcBef>
                <a:spcPct val="0"/>
              </a:spcBef>
              <a:buNone/>
              <a:defRPr/>
            </a:pPr>
            <a:endParaRPr lang="zh-CN" altLang="en-US" sz="2400" b="1" dirty="0">
              <a:solidFill>
                <a:srgbClr val="663300"/>
              </a:solidFill>
              <a:latin typeface="+mj-lt"/>
              <a:ea typeface="华文新魏" panose="02010800040101010101" pitchFamily="2" charset="-122"/>
              <a:cs typeface="+mj-cs"/>
            </a:endParaRPr>
          </a:p>
          <a:p>
            <a:pPr marL="0" indent="0" eaLnBrk="1" hangingPunct="1">
              <a:lnSpc>
                <a:spcPct val="90000"/>
              </a:lnSpc>
              <a:spcBef>
                <a:spcPct val="0"/>
              </a:spcBef>
              <a:buNone/>
              <a:defRPr/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66133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ext Box 2"/>
          <p:cNvSpPr txBox="1">
            <a:spLocks noChangeArrowheads="1"/>
          </p:cNvSpPr>
          <p:nvPr/>
        </p:nvSpPr>
        <p:spPr bwMode="auto">
          <a:xfrm>
            <a:off x="1919537" y="344222"/>
            <a:ext cx="894001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dirty="0" smtClean="0">
                <a:solidFill>
                  <a:srgbClr val="CC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例</a:t>
            </a:r>
            <a:r>
              <a:rPr kumimoji="1" lang="en-US" altLang="zh-CN" dirty="0" smtClean="0">
                <a:solidFill>
                  <a:srgbClr val="CC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1" lang="zh-CN" altLang="en-US" dirty="0">
                <a:solidFill>
                  <a:srgbClr val="CC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</a:p>
        </p:txBody>
      </p:sp>
      <p:sp>
        <p:nvSpPr>
          <p:cNvPr id="60419" name="Text Box 3"/>
          <p:cNvSpPr txBox="1">
            <a:spLocks noChangeArrowheads="1"/>
          </p:cNvSpPr>
          <p:nvPr/>
        </p:nvSpPr>
        <p:spPr bwMode="auto">
          <a:xfrm>
            <a:off x="3150643" y="402027"/>
            <a:ext cx="81168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 smtClean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硅材料二极管，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U</a:t>
            </a:r>
            <a:r>
              <a:rPr kumimoji="1" lang="en-US" altLang="zh-CN" sz="1800" dirty="0" smtClean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=0.7V.</a:t>
            </a:r>
            <a:r>
              <a:rPr kumimoji="1" lang="zh-CN" altLang="en-US" sz="2400" dirty="0" smtClean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试</a:t>
            </a:r>
            <a:r>
              <a:rPr kumimoji="1" lang="zh-CN" altLang="en-US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求不同电压情况下的输出电流</a:t>
            </a:r>
            <a:r>
              <a:rPr kumimoji="1" lang="en-US" altLang="zh-CN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kumimoji="1" lang="zh-CN" altLang="en-US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</a:p>
        </p:txBody>
      </p:sp>
      <p:sp>
        <p:nvSpPr>
          <p:cNvPr id="60420" name="Text Box 51"/>
          <p:cNvSpPr txBox="1">
            <a:spLocks noChangeArrowheads="1"/>
          </p:cNvSpPr>
          <p:nvPr/>
        </p:nvSpPr>
        <p:spPr bwMode="auto">
          <a:xfrm>
            <a:off x="4610100" y="1810651"/>
            <a:ext cx="9350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：</a:t>
            </a:r>
          </a:p>
        </p:txBody>
      </p:sp>
      <p:graphicFrame>
        <p:nvGraphicFramePr>
          <p:cNvPr id="60421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3481124"/>
              </p:ext>
            </p:extLst>
          </p:nvPr>
        </p:nvGraphicFramePr>
        <p:xfrm>
          <a:off x="1919537" y="874181"/>
          <a:ext cx="2462213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8" name="Photo Editor 照片" r:id="rId3" imgW="9419048" imgH="6219048" progId="MSPhotoEd.3">
                  <p:embed/>
                </p:oleObj>
              </mc:Choice>
              <mc:Fallback>
                <p:oleObj name="Photo Editor 照片" r:id="rId3" imgW="9419048" imgH="6219048" progId="MSPhotoEd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537" y="874181"/>
                        <a:ext cx="2462213" cy="162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 Box 13"/>
          <p:cNvSpPr txBox="1">
            <a:spLocks noChangeArrowheads="1"/>
          </p:cNvSpPr>
          <p:nvPr/>
        </p:nvSpPr>
        <p:spPr bwMode="auto">
          <a:xfrm>
            <a:off x="5253683" y="1878289"/>
            <a:ext cx="580352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应根据不同输入电压选择不同的等效电路！</a:t>
            </a:r>
          </a:p>
        </p:txBody>
      </p:sp>
      <p:sp>
        <p:nvSpPr>
          <p:cNvPr id="36" name="AutoShape 23"/>
          <p:cNvSpPr>
            <a:spLocks/>
          </p:cNvSpPr>
          <p:nvPr/>
        </p:nvSpPr>
        <p:spPr bwMode="auto">
          <a:xfrm>
            <a:off x="482599" y="1978024"/>
            <a:ext cx="900113" cy="1082675"/>
          </a:xfrm>
          <a:prstGeom prst="borderCallout1">
            <a:avLst>
              <a:gd name="adj1" fmla="val 26472"/>
              <a:gd name="adj2" fmla="val 103315"/>
              <a:gd name="adj3" fmla="val -14529"/>
              <a:gd name="adj4" fmla="val 184339"/>
            </a:avLst>
          </a:prstGeom>
          <a:solidFill>
            <a:srgbClr val="00FFFF"/>
          </a:solidFill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000" dirty="0" smtClean="0">
                <a:latin typeface="Times New Roman" panose="02020603050405020304" pitchFamily="18" charset="0"/>
              </a:rPr>
              <a:t>50V</a:t>
            </a:r>
            <a:r>
              <a:rPr kumimoji="1" lang="zh-CN" altLang="en-US" sz="2000" dirty="0">
                <a:latin typeface="Times New Roman" panose="02020603050405020304" pitchFamily="18" charset="0"/>
              </a:rPr>
              <a:t>？</a:t>
            </a:r>
            <a:r>
              <a:rPr kumimoji="1" lang="en-US" altLang="zh-CN" sz="2000" dirty="0">
                <a:latin typeface="Times New Roman" panose="02020603050405020304" pitchFamily="18" charset="0"/>
              </a:rPr>
              <a:t>5V</a:t>
            </a:r>
            <a:r>
              <a:rPr kumimoji="1" lang="zh-CN" altLang="en-US" sz="2000" dirty="0">
                <a:latin typeface="Times New Roman" panose="02020603050405020304" pitchFamily="18" charset="0"/>
              </a:rPr>
              <a:t>？</a:t>
            </a:r>
            <a:r>
              <a:rPr kumimoji="1" lang="en-US" altLang="zh-CN" sz="2000" dirty="0">
                <a:latin typeface="Times New Roman" panose="02020603050405020304" pitchFamily="18" charset="0"/>
              </a:rPr>
              <a:t>1V</a:t>
            </a:r>
            <a:r>
              <a:rPr kumimoji="1" lang="zh-CN" altLang="en-US" sz="2000" dirty="0">
                <a:latin typeface="Times New Roman" panose="02020603050405020304" pitchFamily="18" charset="0"/>
              </a:rPr>
              <a:t>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13"/>
              <p:cNvSpPr txBox="1">
                <a:spLocks noChangeArrowheads="1"/>
              </p:cNvSpPr>
              <p:nvPr/>
            </p:nvSpPr>
            <p:spPr bwMode="auto">
              <a:xfrm>
                <a:off x="5002348" y="2750087"/>
                <a:ext cx="6265181" cy="31752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dirty="0" smtClean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1</a:t>
                </a:r>
                <a:r>
                  <a:rPr kumimoji="1" lang="zh-CN" altLang="en-US" sz="2400" dirty="0" smtClean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、</a:t>
                </a:r>
                <a:r>
                  <a:rPr kumimoji="1" lang="en-US" altLang="zh-CN" sz="2400" dirty="0" smtClean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v=50V</a:t>
                </a:r>
                <a:r>
                  <a:rPr kumimoji="1" lang="zh-CN" altLang="en-US" sz="2400" dirty="0" smtClean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时</a:t>
                </a:r>
                <a:endParaRPr kumimoji="1" lang="en-US" altLang="zh-CN" sz="2400" dirty="0" smtClean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kumimoji="1" lang="en-US" altLang="zh-CN" sz="2400" dirty="0" smtClean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 a</a:t>
                </a:r>
                <a:r>
                  <a:rPr kumimoji="1" lang="zh-CN" altLang="en-US" sz="2400" dirty="0" smtClean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、二极管模型选取：</a:t>
                </a:r>
                <a14:m>
                  <m:oMath xmlns:m="http://schemas.openxmlformats.org/officeDocument/2006/math">
                    <m:r>
                      <a:rPr kumimoji="1" lang="zh-CN" altLang="en-US" sz="2400" dirty="0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选用理想二极管模型</m:t>
                    </m:r>
                  </m:oMath>
                </a14:m>
                <a:endParaRPr kumimoji="1" lang="en-US" altLang="zh-CN" sz="2400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dirty="0" smtClean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  b</a:t>
                </a:r>
                <a:r>
                  <a:rPr kumimoji="1" lang="zh-CN" altLang="en-US" sz="2400" dirty="0" smtClean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、判断理想二极管的工作状态：</a:t>
                </a:r>
                <a:endParaRPr kumimoji="1" lang="en-US" altLang="zh-CN" sz="2400" dirty="0" smtClean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  <a:p>
                <a:pPr eaLnBrk="1" hangingPunct="1">
                  <a:spcBef>
                    <a:spcPct val="50000"/>
                  </a:spcBef>
                </a:pPr>
                <a:r>
                  <a:rPr kumimoji="1" lang="zh-CN" altLang="en-US" sz="2400" dirty="0" smtClean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       断开理想二极管，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400" i="1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kumimoji="1" lang="zh-CN" altLang="en-US" sz="2400" i="1">
                            <a:latin typeface="Cambria Math" panose="02040503050406030204" pitchFamily="18" charset="0"/>
                          </a:rPr>
                          <m:t>阳</m:t>
                        </m:r>
                      </m:sub>
                    </m:sSub>
                  </m:oMath>
                </a14:m>
                <a:r>
                  <a:rPr kumimoji="1" lang="en-US" altLang="zh-CN" sz="2400" dirty="0" smtClean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=50V</a:t>
                </a:r>
                <a:r>
                  <a:rPr kumimoji="1" lang="zh-CN" altLang="en-US" sz="2400" dirty="0" smtClean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400" i="1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kumimoji="1" lang="zh-CN" altLang="en-US" sz="2400" i="1">
                            <a:latin typeface="Cambria Math" panose="02040503050406030204" pitchFamily="18" charset="0"/>
                          </a:rPr>
                          <m:t>阴</m:t>
                        </m:r>
                      </m:sub>
                    </m:sSub>
                  </m:oMath>
                </a14:m>
                <a:r>
                  <a:rPr kumimoji="1" lang="en-US" altLang="zh-CN" sz="2400" dirty="0" smtClean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=0V,    </a:t>
                </a:r>
                <a:r>
                  <a:rPr kumimoji="1" lang="zh-CN" altLang="en-US" sz="2400" dirty="0" smtClean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理想二极管处于导通状态  ，相当于导线</a:t>
                </a:r>
                <a:endParaRPr kumimoji="1" lang="en-US" altLang="zh-CN" sz="2400" dirty="0" smtClean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dirty="0" smtClean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  C</a:t>
                </a:r>
                <a:r>
                  <a:rPr kumimoji="1" lang="zh-CN" altLang="en-US" sz="2400" dirty="0" smtClean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、电路计算：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2400" i="1" dirty="0"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kumimoji="1" lang="en-US" altLang="zh-CN" sz="2400" dirty="0" smtClean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=V/R</a:t>
                </a:r>
                <a:endParaRPr kumimoji="1" lang="zh-CN" altLang="en-US" sz="2400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9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02348" y="2750087"/>
                <a:ext cx="6265181" cy="3175228"/>
              </a:xfrm>
              <a:prstGeom prst="rect">
                <a:avLst/>
              </a:prstGeom>
              <a:blipFill rotWithShape="0">
                <a:blip r:embed="rId5"/>
                <a:stretch>
                  <a:fillRect l="-1558" t="-1536" r="-2142" b="-345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4047885"/>
              </p:ext>
            </p:extLst>
          </p:nvPr>
        </p:nvGraphicFramePr>
        <p:xfrm>
          <a:off x="1919537" y="2784281"/>
          <a:ext cx="2462213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9" name="Photo Editor 照片" r:id="rId6" imgW="9419048" imgH="6219048" progId="MSPhotoEd.3">
                  <p:embed/>
                </p:oleObj>
              </mc:Choice>
              <mc:Fallback>
                <p:oleObj name="Photo Editor 照片" r:id="rId6" imgW="9419048" imgH="6219048" progId="MSPhotoEd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537" y="2784281"/>
                        <a:ext cx="2462213" cy="162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482599" y="251869"/>
            <a:ext cx="3559126" cy="40539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90000"/>
              </a:lnSpc>
              <a:spcBef>
                <a:spcPct val="0"/>
              </a:spcBef>
              <a:buNone/>
              <a:defRPr/>
            </a:pPr>
            <a:r>
              <a:rPr lang="en-US" altLang="zh-CN" sz="2800" b="1" dirty="0">
                <a:solidFill>
                  <a:srgbClr val="663300"/>
                </a:solidFill>
                <a:ea typeface="华文新魏" panose="02010800040101010101" pitchFamily="2" charset="-122"/>
              </a:rPr>
              <a:t>2</a:t>
            </a:r>
            <a:r>
              <a:rPr lang="zh-CN" altLang="en-US" sz="2800" b="1" dirty="0" smtClean="0">
                <a:solidFill>
                  <a:srgbClr val="663300"/>
                </a:solidFill>
                <a:ea typeface="华文新魏" panose="02010800040101010101" pitchFamily="2" charset="-122"/>
              </a:rPr>
              <a:t>、例题</a:t>
            </a:r>
            <a:endParaRPr lang="zh-CN" altLang="en-US" sz="2400" b="1" dirty="0">
              <a:solidFill>
                <a:srgbClr val="663300"/>
              </a:solidFill>
              <a:latin typeface="+mj-lt"/>
              <a:ea typeface="华文新魏" panose="02010800040101010101" pitchFamily="2" charset="-122"/>
              <a:cs typeface="+mj-cs"/>
            </a:endParaRPr>
          </a:p>
          <a:p>
            <a:pPr marL="0" indent="0" eaLnBrk="1" hangingPunct="1">
              <a:lnSpc>
                <a:spcPct val="90000"/>
              </a:lnSpc>
              <a:spcBef>
                <a:spcPct val="0"/>
              </a:spcBef>
              <a:buNone/>
              <a:defRPr/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313137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build="p" autoUpdateAnimBg="0"/>
      <p:bldP spid="36" grpId="0" animBg="1"/>
      <p:bldP spid="9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Box 13"/>
              <p:cNvSpPr txBox="1">
                <a:spLocks noChangeArrowheads="1"/>
              </p:cNvSpPr>
              <p:nvPr/>
            </p:nvSpPr>
            <p:spPr bwMode="auto">
              <a:xfrm>
                <a:off x="648041" y="518125"/>
                <a:ext cx="7272070" cy="29053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dirty="0" smtClean="0">
                    <a:latin typeface="Times New Roman" panose="02020603050405020304" pitchFamily="18" charset="0"/>
                  </a:rPr>
                  <a:t>2</a:t>
                </a:r>
                <a:r>
                  <a:rPr kumimoji="1" lang="zh-CN" altLang="en-US" sz="2400" dirty="0" smtClean="0">
                    <a:latin typeface="Times New Roman" panose="02020603050405020304" pitchFamily="18" charset="0"/>
                  </a:rPr>
                  <a:t>、</a:t>
                </a:r>
                <a:r>
                  <a:rPr kumimoji="1" lang="en-US" altLang="zh-CN" sz="2400" dirty="0" smtClean="0">
                    <a:latin typeface="Times New Roman" panose="02020603050405020304" pitchFamily="18" charset="0"/>
                  </a:rPr>
                  <a:t>v=5V</a:t>
                </a:r>
                <a:r>
                  <a:rPr kumimoji="1" lang="zh-CN" altLang="en-US" sz="2400" dirty="0" smtClean="0">
                    <a:latin typeface="Times New Roman" panose="02020603050405020304" pitchFamily="18" charset="0"/>
                  </a:rPr>
                  <a:t>时</a:t>
                </a:r>
                <a:endParaRPr kumimoji="1" lang="en-US" altLang="zh-CN" sz="2400" dirty="0" smtClean="0">
                  <a:latin typeface="Times New Roman" panose="02020603050405020304" pitchFamily="18" charset="0"/>
                </a:endParaRPr>
              </a:p>
              <a:p>
                <a:pPr eaLnBrk="1" hangingPunct="1"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dirty="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𝒂</m:t>
                      </m:r>
                      <m:r>
                        <a:rPr kumimoji="1" lang="zh-CN" altLang="en-US" sz="2400" dirty="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、二极管模型选择：恒压源模型</m:t>
                      </m:r>
                    </m:oMath>
                  </m:oMathPara>
                </a14:m>
                <a:endParaRPr kumimoji="1" lang="en-US" altLang="zh-CN" sz="2400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000" dirty="0" smtClean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b</a:t>
                </a:r>
                <a:r>
                  <a:rPr kumimoji="1" lang="zh-CN" altLang="en-US" sz="2400" dirty="0" smtClean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、判断理想二极管的工作状态：</a:t>
                </a:r>
                <a:endParaRPr kumimoji="1" lang="en-US" altLang="zh-CN" sz="2400" dirty="0" smtClean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kumimoji="1" lang="en-US" altLang="zh-CN" sz="2400" dirty="0" smtClean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    </a:t>
                </a:r>
                <a:r>
                  <a:rPr kumimoji="1" lang="zh-CN" altLang="en-US" sz="2400" dirty="0" smtClean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断开理想二极管，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 smtClean="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sSubPr>
                      <m:e>
                        <m:r>
                          <a:rPr kumimoji="1" lang="en-US" altLang="zh-CN" sz="2400" b="1" i="0" smtClean="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  </m:t>
                        </m:r>
                        <m:r>
                          <m:rPr>
                            <m:sty m:val="p"/>
                          </m:rPr>
                          <a:rPr kumimoji="1" lang="en-US" altLang="zh-CN" sz="240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V</m:t>
                        </m:r>
                      </m:e>
                      <m:sub>
                        <m:r>
                          <a:rPr kumimoji="1" lang="zh-CN" altLang="en-US" sz="240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阳</m:t>
                        </m:r>
                      </m:sub>
                    </m:sSub>
                  </m:oMath>
                </a14:m>
                <a:r>
                  <a:rPr kumimoji="1" lang="en-US" altLang="zh-CN" sz="2400" dirty="0" smtClean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=5-0.7=4.3V</a:t>
                </a:r>
                <a:r>
                  <a:rPr kumimoji="1" lang="zh-CN" altLang="en-US" sz="2400" dirty="0" smtClean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40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V</m:t>
                        </m:r>
                      </m:e>
                      <m:sub>
                        <m:r>
                          <a:rPr kumimoji="1" lang="zh-CN" altLang="en-US" sz="240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阴</m:t>
                        </m:r>
                      </m:sub>
                    </m:sSub>
                  </m:oMath>
                </a14:m>
                <a:r>
                  <a:rPr kumimoji="1" lang="en-US" altLang="zh-CN" sz="2400" dirty="0" smtClean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=0V,   </a:t>
                </a:r>
                <a:r>
                  <a:rPr kumimoji="1" lang="zh-CN" altLang="en-US" sz="2400" dirty="0" smtClean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理想二极管处于导通    状态，相当于导线</a:t>
                </a:r>
                <a:endParaRPr kumimoji="1" lang="en-US" altLang="zh-CN" sz="2400" dirty="0" smtClean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C</a:t>
                </a:r>
                <a:r>
                  <a:rPr kumimoji="1" lang="zh-CN" altLang="en-US" sz="24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、电路计算：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2400" dirty="0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I</m:t>
                    </m:r>
                  </m:oMath>
                </a14:m>
                <a:r>
                  <a:rPr kumimoji="1" lang="en-US" altLang="zh-CN" sz="24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=</a:t>
                </a:r>
                <a:r>
                  <a:rPr kumimoji="1" lang="zh-CN" altLang="en-US" sz="24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（</a:t>
                </a:r>
                <a:r>
                  <a:rPr kumimoji="1" lang="en-US" altLang="zh-CN" sz="24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V-0.7</a:t>
                </a:r>
                <a:r>
                  <a:rPr kumimoji="1" lang="zh-CN" altLang="en-US" sz="24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）</a:t>
                </a:r>
                <a:r>
                  <a:rPr kumimoji="1" lang="en-US" altLang="zh-CN" sz="24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/R</a:t>
                </a:r>
                <a:endParaRPr kumimoji="1" lang="zh-CN" altLang="en-US" sz="2400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2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8041" y="518125"/>
                <a:ext cx="7272070" cy="2905347"/>
              </a:xfrm>
              <a:prstGeom prst="rect">
                <a:avLst/>
              </a:prstGeom>
              <a:blipFill rotWithShape="0">
                <a:blip r:embed="rId2"/>
                <a:stretch>
                  <a:fillRect l="-1257" t="-2306" r="-1006" b="-377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13"/>
              <p:cNvSpPr txBox="1">
                <a:spLocks noChangeArrowheads="1"/>
              </p:cNvSpPr>
              <p:nvPr/>
            </p:nvSpPr>
            <p:spPr bwMode="auto">
              <a:xfrm>
                <a:off x="648041" y="3679866"/>
                <a:ext cx="6265181" cy="34561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dirty="0">
                    <a:latin typeface="Times New Roman" panose="02020603050405020304" pitchFamily="18" charset="0"/>
                  </a:rPr>
                  <a:t>3</a:t>
                </a:r>
                <a:r>
                  <a:rPr kumimoji="1" lang="zh-CN" altLang="en-US" sz="2400" dirty="0">
                    <a:latin typeface="Times New Roman" panose="02020603050405020304" pitchFamily="18" charset="0"/>
                  </a:rPr>
                  <a:t>、</a:t>
                </a:r>
                <a:r>
                  <a:rPr kumimoji="1" lang="en-US" altLang="zh-CN" sz="24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v=1V</a:t>
                </a:r>
                <a:r>
                  <a:rPr kumimoji="1" lang="zh-CN" altLang="en-US" sz="24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时</a:t>
                </a:r>
                <a:endParaRPr kumimoji="1" lang="en-US" altLang="zh-CN" sz="2400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  </a:t>
                </a:r>
                <a14:m>
                  <m:oMath xmlns:m="http://schemas.openxmlformats.org/officeDocument/2006/math">
                    <m:r>
                      <a:rPr kumimoji="1" lang="en-US" altLang="zh-CN" sz="2400" dirty="0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𝒂</m:t>
                    </m:r>
                    <m:r>
                      <a:rPr kumimoji="1" lang="zh-CN" altLang="en-US" sz="2400" dirty="0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、二极管模型选择：恒压源串电阻模型</m:t>
                    </m:r>
                  </m:oMath>
                </a14:m>
                <a:endParaRPr kumimoji="1" lang="en-US" altLang="zh-CN" sz="2400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  b</a:t>
                </a:r>
                <a:r>
                  <a:rPr kumimoji="1" lang="zh-CN" altLang="en-US" sz="24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、判断理想二极管的</a:t>
                </a:r>
                <a:r>
                  <a:rPr kumimoji="1" lang="zh-CN" altLang="en-US" sz="2400" dirty="0" smtClean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工作状态：</a:t>
                </a:r>
                <a:endParaRPr kumimoji="1" lang="en-US" altLang="zh-CN" sz="2400" dirty="0" smtClean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kumimoji="1" lang="en-US" altLang="zh-CN" sz="2400" dirty="0" smtClean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       </a:t>
                </a:r>
                <a:r>
                  <a:rPr kumimoji="1" lang="zh-CN" altLang="en-US" sz="2400" dirty="0" smtClean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断开</a:t>
                </a:r>
                <a:r>
                  <a:rPr kumimoji="1" lang="zh-CN" altLang="en-US" sz="24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理想二极管，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40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V</m:t>
                        </m:r>
                      </m:e>
                      <m:sub>
                        <m:r>
                          <a:rPr kumimoji="1" lang="zh-CN" altLang="en-US" sz="240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阳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=5-0.7=4.3V</a:t>
                </a:r>
                <a:r>
                  <a:rPr kumimoji="1" lang="zh-CN" altLang="en-US" sz="24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40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V</m:t>
                        </m:r>
                      </m:e>
                      <m:sub>
                        <m:r>
                          <a:rPr kumimoji="1" lang="zh-CN" altLang="en-US" sz="240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阴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=0V,</a:t>
                </a:r>
                <a:r>
                  <a:rPr kumimoji="1" lang="zh-CN" altLang="en-US" sz="24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理想二极管处于导通状态，相当于导线</a:t>
                </a:r>
                <a:endParaRPr kumimoji="1" lang="en-US" altLang="zh-CN" sz="2400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C</a:t>
                </a:r>
                <a:r>
                  <a:rPr kumimoji="1" lang="zh-CN" altLang="en-US" sz="24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、电路计算：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2400" dirty="0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I</m:t>
                    </m:r>
                  </m:oMath>
                </a14:m>
                <a:r>
                  <a:rPr kumimoji="1" lang="en-US" altLang="zh-CN" sz="24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=</a:t>
                </a:r>
                <a:r>
                  <a:rPr kumimoji="1" lang="zh-CN" altLang="en-US" sz="24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（</a:t>
                </a:r>
                <a:r>
                  <a:rPr kumimoji="1" lang="en-US" altLang="zh-CN" sz="24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V-0.7</a:t>
                </a:r>
                <a:r>
                  <a:rPr kumimoji="1" lang="zh-CN" altLang="en-US" sz="24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）</a:t>
                </a:r>
                <a:r>
                  <a:rPr kumimoji="1" lang="en-US" altLang="zh-CN" sz="24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/</a:t>
                </a:r>
                <a:r>
                  <a:rPr kumimoji="1" lang="zh-CN" altLang="en-US" sz="24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（</a:t>
                </a:r>
                <a:r>
                  <a:rPr kumimoji="1" lang="en-US" altLang="zh-CN" sz="2400" dirty="0" err="1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R+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sSubPr>
                      <m:e>
                        <m:r>
                          <a:rPr kumimoji="1" lang="en-US" altLang="zh-CN" sz="240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𝒓</m:t>
                        </m:r>
                      </m:e>
                      <m:sub>
                        <m:r>
                          <a:rPr kumimoji="1" lang="en-US" altLang="zh-CN" sz="240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𝐃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)</a:t>
                </a:r>
                <a:endParaRPr kumimoji="1" lang="zh-CN" altLang="en-US" sz="2400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3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8041" y="3679866"/>
                <a:ext cx="6265181" cy="3456139"/>
              </a:xfrm>
              <a:prstGeom prst="rect">
                <a:avLst/>
              </a:prstGeom>
              <a:blipFill rotWithShape="0">
                <a:blip r:embed="rId3"/>
                <a:stretch>
                  <a:fillRect l="-1459" t="-2293" b="-317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1690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/>
      <p:bldP spid="3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4197033" y="515877"/>
            <a:ext cx="659640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zh-CN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电路如图</a:t>
            </a:r>
            <a:r>
              <a:rPr kumimoji="1" lang="zh-CN" altLang="zh-CN" sz="28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kumimoji="1" lang="zh-CN" altLang="en-US" sz="28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二极管为理想二极管</a:t>
            </a:r>
            <a:r>
              <a:rPr kumimoji="1" lang="zh-CN" altLang="zh-CN" sz="28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求</a:t>
            </a:r>
            <a:r>
              <a:rPr kumimoji="1" lang="zh-CN" altLang="zh-CN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kumimoji="1" lang="en-US" altLang="zh-CN" sz="28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U</a:t>
            </a:r>
            <a:r>
              <a:rPr kumimoji="1" lang="en-US" altLang="zh-CN" sz="2800" b="1" baseline="-250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AB</a:t>
            </a:r>
            <a:endParaRPr kumimoji="1" lang="en-US" altLang="zh-CN" sz="2800" b="1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4218623" y="2596762"/>
            <a:ext cx="5130581" cy="1643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   V</a:t>
            </a:r>
            <a:r>
              <a:rPr kumimoji="1" lang="zh-CN" altLang="en-US" sz="2800" b="1" baseline="-250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阳</a:t>
            </a:r>
            <a:r>
              <a:rPr kumimoji="1" lang="zh-CN" altLang="en-US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kumimoji="1" lang="en-US" altLang="zh-CN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=</a:t>
            </a:r>
            <a:r>
              <a:rPr kumimoji="1" lang="zh-CN" altLang="en-US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－</a:t>
            </a:r>
            <a:r>
              <a:rPr kumimoji="1" lang="en-US" altLang="zh-CN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6 V    </a:t>
            </a:r>
            <a:r>
              <a:rPr kumimoji="1" lang="en-US" altLang="zh-CN" sz="2800" b="1" i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V</a:t>
            </a:r>
            <a:r>
              <a:rPr kumimoji="1" lang="zh-CN" altLang="en-US" sz="2800" b="1" baseline="-250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阴 </a:t>
            </a:r>
            <a:r>
              <a:rPr kumimoji="1" lang="en-US" altLang="zh-CN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=</a:t>
            </a:r>
            <a:r>
              <a:rPr kumimoji="1" lang="zh-CN" altLang="en-US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－</a:t>
            </a:r>
            <a:r>
              <a:rPr kumimoji="1" lang="en-US" altLang="zh-CN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12 V</a:t>
            </a: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   V</a:t>
            </a:r>
            <a:r>
              <a:rPr kumimoji="1" lang="zh-CN" altLang="en-US" sz="2800" b="1" baseline="-250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阳</a:t>
            </a:r>
            <a:r>
              <a:rPr kumimoji="1" lang="en-US" altLang="zh-CN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&gt;V</a:t>
            </a:r>
            <a:r>
              <a:rPr kumimoji="1" lang="zh-CN" altLang="en-US" sz="2800" b="1" baseline="-250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阴</a:t>
            </a:r>
            <a:r>
              <a:rPr kumimoji="1" lang="zh-CN" altLang="en-US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kumimoji="1" lang="zh-CN" altLang="en-US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二极管导通</a:t>
            </a: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i="1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   U</a:t>
            </a:r>
            <a:r>
              <a:rPr kumimoji="1" lang="en-US" altLang="zh-CN" sz="2800" b="1" baseline="-25000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AB</a:t>
            </a:r>
            <a:r>
              <a:rPr kumimoji="1" lang="en-US" altLang="zh-CN" sz="2800" b="1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kumimoji="1" lang="en-US" altLang="zh-CN" sz="28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=</a:t>
            </a:r>
            <a:r>
              <a:rPr kumimoji="1" lang="zh-CN" altLang="en-US" sz="28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－ </a:t>
            </a:r>
            <a:r>
              <a:rPr kumimoji="1" lang="en-US" altLang="zh-CN" sz="2800" b="1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6V</a:t>
            </a:r>
            <a:endParaRPr kumimoji="1" lang="en-US" altLang="zh-CN" sz="2800" b="1" dirty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4580" name="Text Box 4"/>
          <p:cNvSpPr txBox="1">
            <a:spLocks noChangeArrowheads="1"/>
          </p:cNvSpPr>
          <p:nvPr/>
        </p:nvSpPr>
        <p:spPr bwMode="auto">
          <a:xfrm>
            <a:off x="2605291" y="269823"/>
            <a:ext cx="110959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 smtClean="0">
                <a:solidFill>
                  <a:srgbClr val="CC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例</a:t>
            </a:r>
            <a:r>
              <a:rPr kumimoji="1" lang="en-US" altLang="zh-CN" sz="2800" b="1" dirty="0" smtClean="0">
                <a:solidFill>
                  <a:srgbClr val="CC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1" lang="zh-CN" altLang="en-US" sz="2800" b="1" dirty="0" smtClean="0">
                <a:solidFill>
                  <a:srgbClr val="CC0000"/>
                </a:solidFill>
              </a:rPr>
              <a:t>：</a:t>
            </a:r>
            <a:endParaRPr kumimoji="1" lang="zh-CN" altLang="en-US" sz="2800" b="1" dirty="0">
              <a:solidFill>
                <a:srgbClr val="CC0000"/>
              </a:solidFill>
            </a:endParaRPr>
          </a:p>
        </p:txBody>
      </p:sp>
      <p:sp>
        <p:nvSpPr>
          <p:cNvPr id="24581" name="Rectangle 5"/>
          <p:cNvSpPr>
            <a:spLocks noChangeArrowheads="1"/>
          </p:cNvSpPr>
          <p:nvPr/>
        </p:nvSpPr>
        <p:spPr bwMode="auto">
          <a:xfrm>
            <a:off x="4197033" y="1456193"/>
            <a:ext cx="7288847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zh-CN" sz="2800" b="1" dirty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</a:t>
            </a:r>
            <a:r>
              <a:rPr kumimoji="1" lang="zh-CN" altLang="en-US" sz="2800" b="1" dirty="0" smtClean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解：</a:t>
            </a:r>
            <a:r>
              <a:rPr kumimoji="1" lang="zh-CN" altLang="zh-CN" sz="2800" b="1" dirty="0" smtClean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kumimoji="1" lang="zh-CN" altLang="zh-CN" sz="28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取 </a:t>
            </a:r>
            <a:r>
              <a:rPr kumimoji="1" lang="en-US" altLang="zh-CN" sz="28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B </a:t>
            </a:r>
            <a:r>
              <a:rPr kumimoji="1" lang="zh-CN" altLang="zh-CN" sz="28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点作参考点，断开二极管，分析二极管阳极和阴极的电位。</a:t>
            </a:r>
            <a:endParaRPr kumimoji="1" lang="zh-CN" altLang="en-US" sz="2800" b="1" dirty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4585" name="Text Box 9"/>
          <p:cNvSpPr txBox="1">
            <a:spLocks noChangeArrowheads="1"/>
          </p:cNvSpPr>
          <p:nvPr/>
        </p:nvSpPr>
        <p:spPr bwMode="auto">
          <a:xfrm>
            <a:off x="3466783" y="5228028"/>
            <a:ext cx="6937375" cy="547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说明：二极管</a:t>
            </a:r>
            <a:r>
              <a:rPr kumimoji="1" lang="zh-CN" altLang="en-US" sz="2800" b="1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起钳位</a:t>
            </a:r>
            <a:r>
              <a:rPr kumimoji="1" lang="zh-CN" altLang="en-US" sz="2800" b="1" dirty="0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作用  </a:t>
            </a:r>
            <a:endParaRPr kumimoji="1" lang="zh-CN" altLang="en-US" sz="2800" b="1" dirty="0">
              <a:solidFill>
                <a:srgbClr val="CC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24586" name="Group 10"/>
          <p:cNvGrpSpPr>
            <a:grpSpLocks/>
          </p:cNvGrpSpPr>
          <p:nvPr/>
        </p:nvGrpSpPr>
        <p:grpSpPr bwMode="auto">
          <a:xfrm>
            <a:off x="512763" y="834502"/>
            <a:ext cx="3333750" cy="2533649"/>
            <a:chOff x="387" y="297"/>
            <a:chExt cx="2100" cy="1596"/>
          </a:xfrm>
        </p:grpSpPr>
        <p:grpSp>
          <p:nvGrpSpPr>
            <p:cNvPr id="24587" name="Group 11"/>
            <p:cNvGrpSpPr>
              <a:grpSpLocks/>
            </p:cNvGrpSpPr>
            <p:nvPr/>
          </p:nvGrpSpPr>
          <p:grpSpPr bwMode="auto">
            <a:xfrm>
              <a:off x="387" y="297"/>
              <a:ext cx="2100" cy="1596"/>
              <a:chOff x="48" y="163"/>
              <a:chExt cx="2625" cy="1997"/>
            </a:xfrm>
          </p:grpSpPr>
          <p:sp>
            <p:nvSpPr>
              <p:cNvPr id="24588" name="Line 12"/>
              <p:cNvSpPr>
                <a:spLocks noChangeShapeType="1"/>
              </p:cNvSpPr>
              <p:nvPr/>
            </p:nvSpPr>
            <p:spPr bwMode="auto">
              <a:xfrm rot="5400000" flipH="1">
                <a:off x="1200" y="624"/>
                <a:ext cx="288" cy="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24589" name="Line 13"/>
              <p:cNvSpPr>
                <a:spLocks noChangeShapeType="1"/>
              </p:cNvSpPr>
              <p:nvPr/>
            </p:nvSpPr>
            <p:spPr bwMode="auto">
              <a:xfrm rot="5400000" flipV="1">
                <a:off x="1488" y="-240"/>
                <a:ext cx="0" cy="172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24590" name="AutoShape 14"/>
              <p:cNvSpPr>
                <a:spLocks noChangeArrowheads="1"/>
              </p:cNvSpPr>
              <p:nvPr/>
            </p:nvSpPr>
            <p:spPr bwMode="auto">
              <a:xfrm rot="5400000">
                <a:off x="1086" y="498"/>
                <a:ext cx="288" cy="251"/>
              </a:xfrm>
              <a:prstGeom prst="triangle">
                <a:avLst>
                  <a:gd name="adj" fmla="val 50000"/>
                </a:avLst>
              </a:prstGeom>
              <a:noFill/>
              <a:ln w="38100">
                <a:solidFill>
                  <a:srgbClr val="FF33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24591" name="Text Box 15"/>
              <p:cNvSpPr txBox="1">
                <a:spLocks noChangeArrowheads="1"/>
              </p:cNvSpPr>
              <p:nvPr/>
            </p:nvSpPr>
            <p:spPr bwMode="auto">
              <a:xfrm>
                <a:off x="1139" y="163"/>
                <a:ext cx="321" cy="36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kumimoji="1" lang="en-US" altLang="zh-CN" sz="2400" b="1">
                    <a:solidFill>
                      <a:srgbClr val="000000"/>
                    </a:solidFill>
                  </a:rPr>
                  <a:t>D</a:t>
                </a:r>
              </a:p>
            </p:txBody>
          </p:sp>
          <p:sp>
            <p:nvSpPr>
              <p:cNvPr id="24592" name="Line 16"/>
              <p:cNvSpPr>
                <a:spLocks noChangeShapeType="1"/>
              </p:cNvSpPr>
              <p:nvPr/>
            </p:nvSpPr>
            <p:spPr bwMode="auto">
              <a:xfrm>
                <a:off x="624" y="624"/>
                <a:ext cx="0" cy="4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24593" name="Line 17"/>
              <p:cNvSpPr>
                <a:spLocks noChangeShapeType="1"/>
              </p:cNvSpPr>
              <p:nvPr/>
            </p:nvSpPr>
            <p:spPr bwMode="auto">
              <a:xfrm>
                <a:off x="528" y="1104"/>
                <a:ext cx="19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24594" name="Line 18"/>
              <p:cNvSpPr>
                <a:spLocks noChangeShapeType="1"/>
              </p:cNvSpPr>
              <p:nvPr/>
            </p:nvSpPr>
            <p:spPr bwMode="auto">
              <a:xfrm>
                <a:off x="480" y="1200"/>
                <a:ext cx="28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24595" name="Line 19"/>
              <p:cNvSpPr>
                <a:spLocks noChangeShapeType="1"/>
              </p:cNvSpPr>
              <p:nvPr/>
            </p:nvSpPr>
            <p:spPr bwMode="auto">
              <a:xfrm>
                <a:off x="528" y="1296"/>
                <a:ext cx="19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24596" name="Line 20"/>
              <p:cNvSpPr>
                <a:spLocks noChangeShapeType="1"/>
              </p:cNvSpPr>
              <p:nvPr/>
            </p:nvSpPr>
            <p:spPr bwMode="auto">
              <a:xfrm>
                <a:off x="480" y="1392"/>
                <a:ext cx="28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24597" name="Line 21"/>
              <p:cNvSpPr>
                <a:spLocks noChangeShapeType="1"/>
              </p:cNvSpPr>
              <p:nvPr/>
            </p:nvSpPr>
            <p:spPr bwMode="auto">
              <a:xfrm>
                <a:off x="624" y="1392"/>
                <a:ext cx="0" cy="57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24598" name="Line 22"/>
              <p:cNvSpPr>
                <a:spLocks noChangeShapeType="1"/>
              </p:cNvSpPr>
              <p:nvPr/>
            </p:nvSpPr>
            <p:spPr bwMode="auto">
              <a:xfrm>
                <a:off x="1776" y="624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24599" name="Rectangle 23"/>
              <p:cNvSpPr>
                <a:spLocks noChangeArrowheads="1"/>
              </p:cNvSpPr>
              <p:nvPr/>
            </p:nvSpPr>
            <p:spPr bwMode="auto">
              <a:xfrm>
                <a:off x="1680" y="864"/>
                <a:ext cx="192" cy="33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24600" name="Line 24"/>
              <p:cNvSpPr>
                <a:spLocks noChangeShapeType="1"/>
              </p:cNvSpPr>
              <p:nvPr/>
            </p:nvSpPr>
            <p:spPr bwMode="auto">
              <a:xfrm>
                <a:off x="1776" y="1200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24601" name="Line 25"/>
              <p:cNvSpPr>
                <a:spLocks noChangeShapeType="1"/>
              </p:cNvSpPr>
              <p:nvPr/>
            </p:nvSpPr>
            <p:spPr bwMode="auto">
              <a:xfrm>
                <a:off x="1680" y="1392"/>
                <a:ext cx="19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24602" name="Line 26"/>
              <p:cNvSpPr>
                <a:spLocks noChangeShapeType="1"/>
              </p:cNvSpPr>
              <p:nvPr/>
            </p:nvSpPr>
            <p:spPr bwMode="auto">
              <a:xfrm>
                <a:off x="1632" y="1488"/>
                <a:ext cx="28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24603" name="Line 27"/>
              <p:cNvSpPr>
                <a:spLocks noChangeShapeType="1"/>
              </p:cNvSpPr>
              <p:nvPr/>
            </p:nvSpPr>
            <p:spPr bwMode="auto">
              <a:xfrm>
                <a:off x="1680" y="1584"/>
                <a:ext cx="19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24604" name="Line 28"/>
              <p:cNvSpPr>
                <a:spLocks noChangeShapeType="1"/>
              </p:cNvSpPr>
              <p:nvPr/>
            </p:nvSpPr>
            <p:spPr bwMode="auto">
              <a:xfrm>
                <a:off x="1632" y="1680"/>
                <a:ext cx="28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24605" name="Line 29"/>
              <p:cNvSpPr>
                <a:spLocks noChangeShapeType="1"/>
              </p:cNvSpPr>
              <p:nvPr/>
            </p:nvSpPr>
            <p:spPr bwMode="auto">
              <a:xfrm>
                <a:off x="1776" y="1680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24606" name="Line 30"/>
              <p:cNvSpPr>
                <a:spLocks noChangeShapeType="1"/>
              </p:cNvSpPr>
              <p:nvPr/>
            </p:nvSpPr>
            <p:spPr bwMode="auto">
              <a:xfrm>
                <a:off x="624" y="1968"/>
                <a:ext cx="172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24607" name="Text Box 31"/>
              <p:cNvSpPr txBox="1">
                <a:spLocks noChangeArrowheads="1"/>
              </p:cNvSpPr>
              <p:nvPr/>
            </p:nvSpPr>
            <p:spPr bwMode="auto">
              <a:xfrm>
                <a:off x="48" y="1104"/>
                <a:ext cx="442" cy="36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kumimoji="1" lang="en-US" altLang="zh-CN" sz="2400" b="1">
                    <a:solidFill>
                      <a:srgbClr val="000000"/>
                    </a:solidFill>
                  </a:rPr>
                  <a:t>6V</a:t>
                </a:r>
              </a:p>
            </p:txBody>
          </p:sp>
          <p:sp>
            <p:nvSpPr>
              <p:cNvPr id="24608" name="Text Box 32"/>
              <p:cNvSpPr txBox="1">
                <a:spLocks noChangeArrowheads="1"/>
              </p:cNvSpPr>
              <p:nvPr/>
            </p:nvSpPr>
            <p:spPr bwMode="auto">
              <a:xfrm>
                <a:off x="1104" y="1344"/>
                <a:ext cx="559" cy="36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kumimoji="1" lang="en-US" altLang="zh-CN" sz="2400" b="1">
                    <a:solidFill>
                      <a:srgbClr val="000000"/>
                    </a:solidFill>
                  </a:rPr>
                  <a:t>12V</a:t>
                </a:r>
              </a:p>
            </p:txBody>
          </p:sp>
          <p:sp>
            <p:nvSpPr>
              <p:cNvPr id="24609" name="Text Box 33"/>
              <p:cNvSpPr txBox="1">
                <a:spLocks noChangeArrowheads="1"/>
              </p:cNvSpPr>
              <p:nvPr/>
            </p:nvSpPr>
            <p:spPr bwMode="auto">
              <a:xfrm>
                <a:off x="1104" y="864"/>
                <a:ext cx="589" cy="36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kumimoji="1" lang="en-US" altLang="zh-CN" sz="2400" b="1">
                    <a:solidFill>
                      <a:srgbClr val="000000"/>
                    </a:solidFill>
                  </a:rPr>
                  <a:t>3k</a:t>
                </a:r>
                <a:r>
                  <a:rPr kumimoji="1" lang="en-US" altLang="zh-CN" sz="2400" b="1">
                    <a:solidFill>
                      <a:srgbClr val="000000"/>
                    </a:solidFill>
                    <a:sym typeface="Symbol" panose="05050102010706020507" pitchFamily="18" charset="2"/>
                  </a:rPr>
                  <a:t></a:t>
                </a:r>
                <a:endParaRPr kumimoji="1" lang="en-US" altLang="zh-CN" sz="2400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24610" name="Text Box 34"/>
              <p:cNvSpPr txBox="1">
                <a:spLocks noChangeArrowheads="1"/>
              </p:cNvSpPr>
              <p:nvPr/>
            </p:nvSpPr>
            <p:spPr bwMode="auto">
              <a:xfrm>
                <a:off x="2353" y="1796"/>
                <a:ext cx="307" cy="36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kumimoji="1" lang="en-US" altLang="zh-CN" sz="2400" b="1">
                    <a:solidFill>
                      <a:srgbClr val="000000"/>
                    </a:solidFill>
                  </a:rPr>
                  <a:t>B</a:t>
                </a:r>
              </a:p>
            </p:txBody>
          </p:sp>
          <p:sp>
            <p:nvSpPr>
              <p:cNvPr id="24611" name="Text Box 35"/>
              <p:cNvSpPr txBox="1">
                <a:spLocks noChangeArrowheads="1"/>
              </p:cNvSpPr>
              <p:nvPr/>
            </p:nvSpPr>
            <p:spPr bwMode="auto">
              <a:xfrm>
                <a:off x="2352" y="432"/>
                <a:ext cx="321" cy="36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kumimoji="1" lang="en-US" altLang="zh-CN" sz="2400" b="1">
                    <a:solidFill>
                      <a:srgbClr val="000000"/>
                    </a:solidFill>
                  </a:rPr>
                  <a:t>A</a:t>
                </a:r>
              </a:p>
            </p:txBody>
          </p:sp>
          <p:sp>
            <p:nvSpPr>
              <p:cNvPr id="24612" name="Rectangle 36"/>
              <p:cNvSpPr>
                <a:spLocks noChangeArrowheads="1"/>
              </p:cNvSpPr>
              <p:nvPr/>
            </p:nvSpPr>
            <p:spPr bwMode="auto">
              <a:xfrm>
                <a:off x="2102" y="1056"/>
                <a:ext cx="544" cy="36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2400" b="1" i="1">
                    <a:solidFill>
                      <a:srgbClr val="FF0000"/>
                    </a:solidFill>
                  </a:rPr>
                  <a:t>U</a:t>
                </a:r>
                <a:r>
                  <a:rPr kumimoji="1" lang="en-US" altLang="zh-CN" sz="2400" b="1" baseline="-25000">
                    <a:solidFill>
                      <a:srgbClr val="FF0000"/>
                    </a:solidFill>
                  </a:rPr>
                  <a:t>AB</a:t>
                </a:r>
                <a:endParaRPr kumimoji="1" lang="en-US" altLang="zh-CN" sz="2400" b="1" i="1" baseline="-25000">
                  <a:solidFill>
                    <a:srgbClr val="FF0000"/>
                  </a:solidFill>
                </a:endParaRPr>
              </a:p>
            </p:txBody>
          </p:sp>
          <p:sp>
            <p:nvSpPr>
              <p:cNvPr id="24613" name="Text Box 37"/>
              <p:cNvSpPr txBox="1">
                <a:spLocks noChangeArrowheads="1"/>
              </p:cNvSpPr>
              <p:nvPr/>
            </p:nvSpPr>
            <p:spPr bwMode="auto">
              <a:xfrm>
                <a:off x="2112" y="625"/>
                <a:ext cx="432" cy="36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kumimoji="1" lang="en-US" altLang="zh-CN" sz="2400" b="1">
                    <a:solidFill>
                      <a:srgbClr val="FF0000"/>
                    </a:solidFill>
                    <a:ea typeface="楷体_GB2312" pitchFamily="49" charset="-122"/>
                  </a:rPr>
                  <a:t>+</a:t>
                </a:r>
              </a:p>
            </p:txBody>
          </p:sp>
          <p:sp>
            <p:nvSpPr>
              <p:cNvPr id="24614" name="Text Box 38"/>
              <p:cNvSpPr txBox="1">
                <a:spLocks noChangeArrowheads="1"/>
              </p:cNvSpPr>
              <p:nvPr/>
            </p:nvSpPr>
            <p:spPr bwMode="auto">
              <a:xfrm>
                <a:off x="2112" y="1584"/>
                <a:ext cx="432" cy="36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kumimoji="1" lang="en-US" altLang="zh-CN" sz="2400" b="1">
                    <a:solidFill>
                      <a:srgbClr val="FF0000"/>
                    </a:solidFill>
                    <a:ea typeface="楷体_GB2312" pitchFamily="49" charset="-122"/>
                  </a:rPr>
                  <a:t>–</a:t>
                </a:r>
              </a:p>
            </p:txBody>
          </p:sp>
        </p:grpSp>
        <p:sp>
          <p:nvSpPr>
            <p:cNvPr id="24615" name="Oval 39"/>
            <p:cNvSpPr>
              <a:spLocks noChangeArrowheads="1"/>
            </p:cNvSpPr>
            <p:nvPr/>
          </p:nvSpPr>
          <p:spPr bwMode="auto">
            <a:xfrm>
              <a:off x="2208" y="646"/>
              <a:ext cx="48" cy="4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24616" name="Oval 40"/>
            <p:cNvSpPr>
              <a:spLocks noChangeArrowheads="1"/>
            </p:cNvSpPr>
            <p:nvPr/>
          </p:nvSpPr>
          <p:spPr bwMode="auto">
            <a:xfrm>
              <a:off x="2208" y="1704"/>
              <a:ext cx="48" cy="4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</p:grpSp>
      <p:grpSp>
        <p:nvGrpSpPr>
          <p:cNvPr id="24617" name="Group 41"/>
          <p:cNvGrpSpPr>
            <a:grpSpLocks/>
          </p:cNvGrpSpPr>
          <p:nvPr/>
        </p:nvGrpSpPr>
        <p:grpSpPr bwMode="auto">
          <a:xfrm>
            <a:off x="2563813" y="3123299"/>
            <a:ext cx="252413" cy="252412"/>
            <a:chOff x="1680" y="1584"/>
            <a:chExt cx="159" cy="159"/>
          </a:xfrm>
        </p:grpSpPr>
        <p:sp>
          <p:nvSpPr>
            <p:cNvPr id="24618" name="Line 42"/>
            <p:cNvSpPr>
              <a:spLocks noChangeShapeType="1"/>
            </p:cNvSpPr>
            <p:nvPr/>
          </p:nvSpPr>
          <p:spPr bwMode="auto">
            <a:xfrm>
              <a:off x="1762" y="1584"/>
              <a:ext cx="0" cy="159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24619" name="Line 43"/>
            <p:cNvSpPr>
              <a:spLocks noChangeShapeType="1"/>
            </p:cNvSpPr>
            <p:nvPr/>
          </p:nvSpPr>
          <p:spPr bwMode="auto">
            <a:xfrm>
              <a:off x="1680" y="1743"/>
              <a:ext cx="159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739503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24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4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8" grpId="0" autoUpdateAnimBg="0"/>
      <p:bldP spid="24579" grpId="0" autoUpdateAnimBg="0"/>
      <p:bldP spid="24581" grpId="0" autoUpdateAnimBg="0"/>
      <p:bldP spid="24585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2"/>
          <p:cNvSpPr txBox="1">
            <a:spLocks noChangeArrowheads="1"/>
          </p:cNvSpPr>
          <p:nvPr/>
        </p:nvSpPr>
        <p:spPr bwMode="auto">
          <a:xfrm>
            <a:off x="6350391" y="2663032"/>
            <a:ext cx="5157986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i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u</a:t>
            </a:r>
            <a:r>
              <a:rPr kumimoji="1" lang="en-US" altLang="zh-CN" sz="2800" b="1" baseline="-25000" dirty="0" err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kumimoji="1" lang="en-US" altLang="zh-CN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&gt; 8V</a:t>
            </a:r>
            <a:r>
              <a:rPr kumimoji="1" lang="zh-CN" altLang="en-US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，二极管导通</a:t>
            </a:r>
            <a:r>
              <a:rPr kumimoji="1" lang="zh-CN" altLang="en-US" sz="28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， </a:t>
            </a:r>
            <a:r>
              <a:rPr kumimoji="1" lang="en-US" altLang="zh-CN" sz="2800" b="1" i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u</a:t>
            </a:r>
            <a:r>
              <a:rPr kumimoji="1" lang="en-US" altLang="zh-CN" sz="2800" b="1" baseline="-25000" dirty="0" err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</a:t>
            </a:r>
            <a:r>
              <a:rPr kumimoji="1" lang="en-US" altLang="zh-CN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= 8V</a:t>
            </a: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baseline="-250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kumimoji="1" lang="en-US" altLang="zh-CN" sz="2800" b="1" i="1" dirty="0" err="1">
                <a:solidFill>
                  <a:srgbClr val="01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u</a:t>
            </a:r>
            <a:r>
              <a:rPr kumimoji="1" lang="en-US" altLang="zh-CN" sz="2800" b="1" baseline="-25000" dirty="0" err="1">
                <a:solidFill>
                  <a:srgbClr val="01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kumimoji="1" lang="en-US" altLang="zh-CN" sz="2800" b="1" dirty="0">
                <a:solidFill>
                  <a:srgbClr val="01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&lt; 8V</a:t>
            </a:r>
            <a:r>
              <a:rPr kumimoji="1" lang="zh-CN" altLang="en-US" sz="2800" b="1" dirty="0">
                <a:solidFill>
                  <a:srgbClr val="01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，二极管截止</a:t>
            </a:r>
            <a:r>
              <a:rPr kumimoji="1" lang="zh-CN" altLang="en-US" sz="2800" b="1" dirty="0" smtClean="0">
                <a:solidFill>
                  <a:srgbClr val="01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，</a:t>
            </a:r>
            <a:r>
              <a:rPr kumimoji="1" lang="en-US" altLang="zh-CN" sz="2800" b="1" i="1" dirty="0" err="1" smtClean="0">
                <a:solidFill>
                  <a:srgbClr val="01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u</a:t>
            </a:r>
            <a:r>
              <a:rPr kumimoji="1" lang="en-US" altLang="zh-CN" sz="2800" b="1" baseline="-25000" dirty="0" err="1" smtClean="0">
                <a:solidFill>
                  <a:srgbClr val="01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</a:t>
            </a:r>
            <a:r>
              <a:rPr kumimoji="1" lang="en-US" altLang="zh-CN" sz="2800" b="1" dirty="0" smtClean="0">
                <a:solidFill>
                  <a:srgbClr val="01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kumimoji="1" lang="en-US" altLang="zh-CN" sz="2800" b="1" dirty="0">
                <a:solidFill>
                  <a:srgbClr val="01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= </a:t>
            </a:r>
            <a:r>
              <a:rPr kumimoji="1" lang="en-US" altLang="zh-CN" sz="2800" b="1" i="1" dirty="0" err="1">
                <a:solidFill>
                  <a:srgbClr val="01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u</a:t>
            </a:r>
            <a:r>
              <a:rPr kumimoji="1" lang="en-US" altLang="zh-CN" sz="2800" b="1" baseline="-25000" dirty="0" err="1">
                <a:solidFill>
                  <a:srgbClr val="01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endParaRPr kumimoji="1" lang="en-US" altLang="zh-CN" sz="2800" b="1" dirty="0">
              <a:solidFill>
                <a:srgbClr val="01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pSp>
        <p:nvGrpSpPr>
          <p:cNvPr id="26680" name="Group 56"/>
          <p:cNvGrpSpPr>
            <a:grpSpLocks/>
          </p:cNvGrpSpPr>
          <p:nvPr/>
        </p:nvGrpSpPr>
        <p:grpSpPr bwMode="auto">
          <a:xfrm>
            <a:off x="5791200" y="404815"/>
            <a:ext cx="4191000" cy="1574802"/>
            <a:chOff x="2688" y="255"/>
            <a:chExt cx="2640" cy="992"/>
          </a:xfrm>
        </p:grpSpPr>
        <p:sp>
          <p:nvSpPr>
            <p:cNvPr id="26628" name="Text Box 4"/>
            <p:cNvSpPr txBox="1">
              <a:spLocks noChangeArrowheads="1"/>
            </p:cNvSpPr>
            <p:nvPr/>
          </p:nvSpPr>
          <p:spPr bwMode="auto">
            <a:xfrm>
              <a:off x="2688" y="288"/>
              <a:ext cx="2640" cy="9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lnSpc>
                  <a:spcPct val="110000"/>
                </a:lnSpc>
                <a:spcBef>
                  <a:spcPct val="5000"/>
                </a:spcBef>
                <a:spcAft>
                  <a:spcPct val="0"/>
                </a:spcAft>
              </a:pPr>
              <a:r>
                <a:rPr kumimoji="1" lang="zh-CN" altLang="zh-CN" sz="28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已知：</a:t>
              </a:r>
            </a:p>
            <a:p>
              <a:pPr fontAlgn="base">
                <a:lnSpc>
                  <a:spcPct val="110000"/>
                </a:lnSpc>
                <a:spcBef>
                  <a:spcPct val="5000"/>
                </a:spcBef>
                <a:spcAft>
                  <a:spcPct val="0"/>
                </a:spcAft>
              </a:pPr>
              <a:r>
                <a:rPr kumimoji="1" lang="zh-CN" altLang="zh-CN" sz="28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二极管是理想的，试画出 </a:t>
              </a:r>
              <a:r>
                <a:rPr kumimoji="1" lang="en-US" altLang="zh-CN" sz="2800" b="1" i="1" dirty="0" err="1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u</a:t>
              </a:r>
              <a:r>
                <a:rPr kumimoji="1" lang="en-US" altLang="zh-CN" sz="2800" b="1" baseline="-25000" dirty="0" err="1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o</a:t>
              </a:r>
              <a:r>
                <a:rPr kumimoji="1" lang="en-US" altLang="zh-CN" sz="2800" b="1" i="1" baseline="-2500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</a:t>
              </a:r>
              <a:r>
                <a:rPr kumimoji="1" lang="zh-CN" altLang="zh-CN" sz="28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波形。</a:t>
              </a:r>
              <a:endParaRPr kumimoji="1" lang="zh-CN" altLang="en-US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graphicFrame>
          <p:nvGraphicFramePr>
            <p:cNvPr id="26629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22369522"/>
                </p:ext>
              </p:extLst>
            </p:nvPr>
          </p:nvGraphicFramePr>
          <p:xfrm>
            <a:off x="3316" y="255"/>
            <a:ext cx="1904" cy="3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96" name="公式" r:id="rId3" imgW="1168200" imgH="228600" progId="Equation.3">
                    <p:embed/>
                  </p:oleObj>
                </mc:Choice>
                <mc:Fallback>
                  <p:oleObj name="公式" r:id="rId3" imgW="11682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6" y="255"/>
                          <a:ext cx="1904" cy="3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630" name="Rectangle 6"/>
          <p:cNvSpPr>
            <a:spLocks noChangeArrowheads="1"/>
          </p:cNvSpPr>
          <p:nvPr/>
        </p:nvSpPr>
        <p:spPr bwMode="auto">
          <a:xfrm>
            <a:off x="5942283" y="4606951"/>
            <a:ext cx="6191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8V</a:t>
            </a:r>
          </a:p>
        </p:txBody>
      </p:sp>
      <p:sp>
        <p:nvSpPr>
          <p:cNvPr id="26631" name="Text Box 7"/>
          <p:cNvSpPr txBox="1">
            <a:spLocks noChangeArrowheads="1"/>
          </p:cNvSpPr>
          <p:nvPr/>
        </p:nvSpPr>
        <p:spPr bwMode="auto">
          <a:xfrm>
            <a:off x="1912938" y="319088"/>
            <a:ext cx="12112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例</a:t>
            </a:r>
            <a:r>
              <a:rPr kumimoji="1" lang="en-US" altLang="zh-CN" sz="28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3</a:t>
            </a:r>
            <a:r>
              <a:rPr kumimoji="1" lang="zh-CN" altLang="en-US" sz="28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：</a:t>
            </a:r>
          </a:p>
        </p:txBody>
      </p:sp>
      <p:sp>
        <p:nvSpPr>
          <p:cNvPr id="26632" name="Rectangle 8" descr="90%"/>
          <p:cNvSpPr>
            <a:spLocks noChangeArrowheads="1"/>
          </p:cNvSpPr>
          <p:nvPr/>
        </p:nvSpPr>
        <p:spPr bwMode="auto">
          <a:xfrm>
            <a:off x="1562986" y="3707721"/>
            <a:ext cx="3510610" cy="2936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pct90">
                  <a:fgClr>
                    <a:srgbClr val="CCFF66"/>
                  </a:fgClr>
                  <a:bgClr>
                    <a:srgbClr val="FFFFFF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kumimoji="1" lang="en-US" altLang="zh-CN" sz="2800" b="1" dirty="0" smtClean="0">
              <a:solidFill>
                <a:srgbClr val="CC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小结：</a:t>
            </a:r>
            <a:r>
              <a:rPr kumimoji="1" lang="zh-CN" altLang="zh-CN" sz="2800" b="1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二极管的</a:t>
            </a:r>
            <a:r>
              <a:rPr kumimoji="1" lang="zh-CN" altLang="zh-CN" sz="2800" b="1" dirty="0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用途</a:t>
            </a:r>
            <a:endParaRPr kumimoji="1" lang="en-US" altLang="zh-CN" sz="2800" b="1" dirty="0" smtClean="0">
              <a:solidFill>
                <a:srgbClr val="CC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整流</a:t>
            </a:r>
            <a:r>
              <a:rPr kumimoji="1" lang="zh-CN" altLang="en-US" sz="28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、检波</a:t>
            </a:r>
            <a:r>
              <a:rPr kumimoji="1" lang="zh-CN" altLang="en-US" sz="2800" b="1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、限幅</a:t>
            </a:r>
            <a:r>
              <a:rPr kumimoji="1" lang="zh-CN" altLang="en-US" sz="28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、钳位、</a:t>
            </a:r>
            <a:r>
              <a:rPr kumimoji="1" lang="zh-CN" altLang="en-US" sz="2800" b="1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开关</a:t>
            </a:r>
            <a:r>
              <a:rPr kumimoji="1" lang="zh-CN" altLang="en-US" sz="28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、元件保护、</a:t>
            </a:r>
          </a:p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温度补偿等。</a:t>
            </a:r>
          </a:p>
        </p:txBody>
      </p:sp>
      <p:grpSp>
        <p:nvGrpSpPr>
          <p:cNvPr id="26633" name="Group 9"/>
          <p:cNvGrpSpPr>
            <a:grpSpLocks/>
          </p:cNvGrpSpPr>
          <p:nvPr/>
        </p:nvGrpSpPr>
        <p:grpSpPr bwMode="auto">
          <a:xfrm>
            <a:off x="5723207" y="3706837"/>
            <a:ext cx="4984750" cy="2355850"/>
            <a:chOff x="309" y="1632"/>
            <a:chExt cx="3140" cy="1484"/>
          </a:xfrm>
        </p:grpSpPr>
        <p:sp>
          <p:nvSpPr>
            <p:cNvPr id="26634" name="Freeform 10"/>
            <p:cNvSpPr>
              <a:spLocks/>
            </p:cNvSpPr>
            <p:nvPr/>
          </p:nvSpPr>
          <p:spPr bwMode="auto">
            <a:xfrm>
              <a:off x="816" y="2109"/>
              <a:ext cx="2026" cy="929"/>
            </a:xfrm>
            <a:custGeom>
              <a:avLst/>
              <a:gdLst>
                <a:gd name="T0" fmla="*/ 0 w 2026"/>
                <a:gd name="T1" fmla="*/ 443 h 929"/>
                <a:gd name="T2" fmla="*/ 248 w 2026"/>
                <a:gd name="T3" fmla="*/ 3 h 929"/>
                <a:gd name="T4" fmla="*/ 500 w 2026"/>
                <a:gd name="T5" fmla="*/ 455 h 929"/>
                <a:gd name="T6" fmla="*/ 500 w 2026"/>
                <a:gd name="T7" fmla="*/ 487 h 929"/>
                <a:gd name="T8" fmla="*/ 512 w 2026"/>
                <a:gd name="T9" fmla="*/ 471 h 929"/>
                <a:gd name="T10" fmla="*/ 500 w 2026"/>
                <a:gd name="T11" fmla="*/ 483 h 929"/>
                <a:gd name="T12" fmla="*/ 520 w 2026"/>
                <a:gd name="T13" fmla="*/ 515 h 929"/>
                <a:gd name="T14" fmla="*/ 544 w 2026"/>
                <a:gd name="T15" fmla="*/ 579 h 929"/>
                <a:gd name="T16" fmla="*/ 552 w 2026"/>
                <a:gd name="T17" fmla="*/ 603 h 929"/>
                <a:gd name="T18" fmla="*/ 745 w 2026"/>
                <a:gd name="T19" fmla="*/ 883 h 929"/>
                <a:gd name="T20" fmla="*/ 993 w 2026"/>
                <a:gd name="T21" fmla="*/ 443 h 929"/>
                <a:gd name="T22" fmla="*/ 1242 w 2026"/>
                <a:gd name="T23" fmla="*/ 3 h 929"/>
                <a:gd name="T24" fmla="*/ 1472 w 2026"/>
                <a:gd name="T25" fmla="*/ 459 h 929"/>
                <a:gd name="T26" fmla="*/ 1520 w 2026"/>
                <a:gd name="T27" fmla="*/ 567 h 929"/>
                <a:gd name="T28" fmla="*/ 1584 w 2026"/>
                <a:gd name="T29" fmla="*/ 719 h 929"/>
                <a:gd name="T30" fmla="*/ 1738 w 2026"/>
                <a:gd name="T31" fmla="*/ 883 h 929"/>
                <a:gd name="T32" fmla="*/ 1986 w 2026"/>
                <a:gd name="T33" fmla="*/ 441 h 929"/>
                <a:gd name="T34" fmla="*/ 1976 w 2026"/>
                <a:gd name="T35" fmla="*/ 435 h 929"/>
                <a:gd name="T36" fmla="*/ 1984 w 2026"/>
                <a:gd name="T37" fmla="*/ 427 h 929"/>
                <a:gd name="T38" fmla="*/ 1980 w 2026"/>
                <a:gd name="T39" fmla="*/ 435 h 929"/>
                <a:gd name="T40" fmla="*/ 1980 w 2026"/>
                <a:gd name="T41" fmla="*/ 423 h 929"/>
                <a:gd name="T42" fmla="*/ 1968 w 2026"/>
                <a:gd name="T43" fmla="*/ 431 h 929"/>
                <a:gd name="T44" fmla="*/ 1995 w 2026"/>
                <a:gd name="T45" fmla="*/ 432 h 929"/>
                <a:gd name="T46" fmla="*/ 1986 w 2026"/>
                <a:gd name="T47" fmla="*/ 450 h 9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026" h="929">
                  <a:moveTo>
                    <a:pt x="0" y="443"/>
                  </a:moveTo>
                  <a:cubicBezTo>
                    <a:pt x="83" y="223"/>
                    <a:pt x="165" y="1"/>
                    <a:pt x="248" y="3"/>
                  </a:cubicBezTo>
                  <a:cubicBezTo>
                    <a:pt x="331" y="5"/>
                    <a:pt x="458" y="374"/>
                    <a:pt x="500" y="455"/>
                  </a:cubicBezTo>
                  <a:cubicBezTo>
                    <a:pt x="542" y="536"/>
                    <a:pt x="498" y="484"/>
                    <a:pt x="500" y="487"/>
                  </a:cubicBezTo>
                  <a:cubicBezTo>
                    <a:pt x="502" y="490"/>
                    <a:pt x="512" y="472"/>
                    <a:pt x="512" y="471"/>
                  </a:cubicBezTo>
                  <a:cubicBezTo>
                    <a:pt x="512" y="470"/>
                    <a:pt x="499" y="476"/>
                    <a:pt x="500" y="483"/>
                  </a:cubicBezTo>
                  <a:cubicBezTo>
                    <a:pt x="501" y="490"/>
                    <a:pt x="513" y="499"/>
                    <a:pt x="520" y="515"/>
                  </a:cubicBezTo>
                  <a:cubicBezTo>
                    <a:pt x="527" y="531"/>
                    <a:pt x="539" y="564"/>
                    <a:pt x="544" y="579"/>
                  </a:cubicBezTo>
                  <a:cubicBezTo>
                    <a:pt x="549" y="594"/>
                    <a:pt x="518" y="552"/>
                    <a:pt x="552" y="603"/>
                  </a:cubicBezTo>
                  <a:cubicBezTo>
                    <a:pt x="586" y="654"/>
                    <a:pt x="672" y="910"/>
                    <a:pt x="745" y="883"/>
                  </a:cubicBezTo>
                  <a:cubicBezTo>
                    <a:pt x="818" y="856"/>
                    <a:pt x="910" y="590"/>
                    <a:pt x="993" y="443"/>
                  </a:cubicBezTo>
                  <a:cubicBezTo>
                    <a:pt x="1076" y="296"/>
                    <a:pt x="1162" y="0"/>
                    <a:pt x="1242" y="3"/>
                  </a:cubicBezTo>
                  <a:cubicBezTo>
                    <a:pt x="1322" y="6"/>
                    <a:pt x="1426" y="365"/>
                    <a:pt x="1472" y="459"/>
                  </a:cubicBezTo>
                  <a:cubicBezTo>
                    <a:pt x="1518" y="553"/>
                    <a:pt x="1501" y="524"/>
                    <a:pt x="1520" y="567"/>
                  </a:cubicBezTo>
                  <a:cubicBezTo>
                    <a:pt x="1539" y="610"/>
                    <a:pt x="1548" y="666"/>
                    <a:pt x="1584" y="719"/>
                  </a:cubicBezTo>
                  <a:cubicBezTo>
                    <a:pt x="1620" y="772"/>
                    <a:pt x="1671" y="929"/>
                    <a:pt x="1738" y="883"/>
                  </a:cubicBezTo>
                  <a:cubicBezTo>
                    <a:pt x="1805" y="837"/>
                    <a:pt x="1946" y="515"/>
                    <a:pt x="1986" y="441"/>
                  </a:cubicBezTo>
                  <a:cubicBezTo>
                    <a:pt x="2026" y="367"/>
                    <a:pt x="1976" y="437"/>
                    <a:pt x="1976" y="435"/>
                  </a:cubicBezTo>
                  <a:cubicBezTo>
                    <a:pt x="1976" y="433"/>
                    <a:pt x="1983" y="427"/>
                    <a:pt x="1984" y="427"/>
                  </a:cubicBezTo>
                  <a:cubicBezTo>
                    <a:pt x="1985" y="427"/>
                    <a:pt x="1981" y="436"/>
                    <a:pt x="1980" y="435"/>
                  </a:cubicBezTo>
                  <a:cubicBezTo>
                    <a:pt x="1979" y="434"/>
                    <a:pt x="1982" y="424"/>
                    <a:pt x="1980" y="423"/>
                  </a:cubicBezTo>
                  <a:cubicBezTo>
                    <a:pt x="1978" y="422"/>
                    <a:pt x="1966" y="430"/>
                    <a:pt x="1968" y="431"/>
                  </a:cubicBezTo>
                  <a:cubicBezTo>
                    <a:pt x="1970" y="432"/>
                    <a:pt x="1992" y="429"/>
                    <a:pt x="1995" y="432"/>
                  </a:cubicBezTo>
                  <a:cubicBezTo>
                    <a:pt x="1998" y="435"/>
                    <a:pt x="1988" y="446"/>
                    <a:pt x="1986" y="450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26635" name="Line 11"/>
            <p:cNvSpPr>
              <a:spLocks noChangeShapeType="1"/>
            </p:cNvSpPr>
            <p:nvPr/>
          </p:nvSpPr>
          <p:spPr bwMode="auto">
            <a:xfrm flipV="1">
              <a:off x="799" y="1858"/>
              <a:ext cx="0" cy="125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26636" name="Line 12"/>
            <p:cNvSpPr>
              <a:spLocks noChangeShapeType="1"/>
            </p:cNvSpPr>
            <p:nvPr/>
          </p:nvSpPr>
          <p:spPr bwMode="auto">
            <a:xfrm flipV="1">
              <a:off x="799" y="2540"/>
              <a:ext cx="2432" cy="1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26637" name="Text Box 13"/>
            <p:cNvSpPr txBox="1">
              <a:spLocks noChangeArrowheads="1"/>
            </p:cNvSpPr>
            <p:nvPr/>
          </p:nvSpPr>
          <p:spPr bwMode="auto">
            <a:xfrm>
              <a:off x="427" y="1632"/>
              <a:ext cx="37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800" b="1" i="1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楷体_GB2312" pitchFamily="49" charset="-122"/>
                </a:rPr>
                <a:t>u</a:t>
              </a:r>
              <a:r>
                <a:rPr kumimoji="1" lang="en-US" altLang="zh-CN" sz="2800" b="1" baseline="-2500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楷体_GB2312" pitchFamily="49" charset="-122"/>
                </a:rPr>
                <a:t>i</a:t>
              </a:r>
              <a:endParaRPr kumimoji="1"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endParaRPr>
            </a:p>
          </p:txBody>
        </p:sp>
        <p:graphicFrame>
          <p:nvGraphicFramePr>
            <p:cNvPr id="26638" name="Object 14"/>
            <p:cNvGraphicFramePr>
              <a:graphicFrameLocks noChangeAspect="1"/>
            </p:cNvGraphicFramePr>
            <p:nvPr/>
          </p:nvGraphicFramePr>
          <p:xfrm>
            <a:off x="3087" y="2540"/>
            <a:ext cx="362" cy="2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97" name="公式" r:id="rId5" imgW="241200" imgH="164880" progId="Equation.3">
                    <p:embed/>
                  </p:oleObj>
                </mc:Choice>
                <mc:Fallback>
                  <p:oleObj name="公式" r:id="rId5" imgW="24120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87" y="2540"/>
                          <a:ext cx="362" cy="2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39" name="Line 15"/>
            <p:cNvSpPr>
              <a:spLocks noChangeShapeType="1"/>
            </p:cNvSpPr>
            <p:nvPr/>
          </p:nvSpPr>
          <p:spPr bwMode="auto">
            <a:xfrm>
              <a:off x="800" y="2110"/>
              <a:ext cx="24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26640" name="Rectangle 16"/>
            <p:cNvSpPr>
              <a:spLocks noChangeArrowheads="1"/>
            </p:cNvSpPr>
            <p:nvPr/>
          </p:nvSpPr>
          <p:spPr bwMode="auto">
            <a:xfrm>
              <a:off x="309" y="1945"/>
              <a:ext cx="50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800" b="1" dirty="0" smtClean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15V</a:t>
              </a:r>
              <a:endParaRPr kumimoji="1" lang="en-US" altLang="zh-CN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sp>
        <p:nvSpPr>
          <p:cNvPr id="26641" name="Freeform 17"/>
          <p:cNvSpPr>
            <a:spLocks/>
          </p:cNvSpPr>
          <p:nvPr/>
        </p:nvSpPr>
        <p:spPr bwMode="auto">
          <a:xfrm>
            <a:off x="6528070" y="4680417"/>
            <a:ext cx="3124200" cy="1241425"/>
          </a:xfrm>
          <a:custGeom>
            <a:avLst/>
            <a:gdLst>
              <a:gd name="T0" fmla="*/ 0 w 1968"/>
              <a:gd name="T1" fmla="*/ 268 h 782"/>
              <a:gd name="T2" fmla="*/ 68 w 1968"/>
              <a:gd name="T3" fmla="*/ 89 h 782"/>
              <a:gd name="T4" fmla="*/ 88 w 1968"/>
              <a:gd name="T5" fmla="*/ 85 h 782"/>
              <a:gd name="T6" fmla="*/ 148 w 1968"/>
              <a:gd name="T7" fmla="*/ 85 h 782"/>
              <a:gd name="T8" fmla="*/ 168 w 1968"/>
              <a:gd name="T9" fmla="*/ 81 h 782"/>
              <a:gd name="T10" fmla="*/ 192 w 1968"/>
              <a:gd name="T11" fmla="*/ 85 h 782"/>
              <a:gd name="T12" fmla="*/ 208 w 1968"/>
              <a:gd name="T13" fmla="*/ 85 h 782"/>
              <a:gd name="T14" fmla="*/ 256 w 1968"/>
              <a:gd name="T15" fmla="*/ 85 h 782"/>
              <a:gd name="T16" fmla="*/ 316 w 1968"/>
              <a:gd name="T17" fmla="*/ 85 h 782"/>
              <a:gd name="T18" fmla="*/ 288 w 1968"/>
              <a:gd name="T19" fmla="*/ 85 h 782"/>
              <a:gd name="T20" fmla="*/ 336 w 1968"/>
              <a:gd name="T21" fmla="*/ 85 h 782"/>
              <a:gd name="T22" fmla="*/ 340 w 1968"/>
              <a:gd name="T23" fmla="*/ 92 h 782"/>
              <a:gd name="T24" fmla="*/ 368 w 1968"/>
              <a:gd name="T25" fmla="*/ 89 h 782"/>
              <a:gd name="T26" fmla="*/ 360 w 1968"/>
              <a:gd name="T27" fmla="*/ 81 h 782"/>
              <a:gd name="T28" fmla="*/ 368 w 1968"/>
              <a:gd name="T29" fmla="*/ 77 h 782"/>
              <a:gd name="T30" fmla="*/ 348 w 1968"/>
              <a:gd name="T31" fmla="*/ 77 h 782"/>
              <a:gd name="T32" fmla="*/ 360 w 1968"/>
              <a:gd name="T33" fmla="*/ 77 h 782"/>
              <a:gd name="T34" fmla="*/ 360 w 1968"/>
              <a:gd name="T35" fmla="*/ 89 h 782"/>
              <a:gd name="T36" fmla="*/ 384 w 1968"/>
              <a:gd name="T37" fmla="*/ 81 h 782"/>
              <a:gd name="T38" fmla="*/ 408 w 1968"/>
              <a:gd name="T39" fmla="*/ 93 h 782"/>
              <a:gd name="T40" fmla="*/ 444 w 1968"/>
              <a:gd name="T41" fmla="*/ 181 h 782"/>
              <a:gd name="T42" fmla="*/ 484 w 1968"/>
              <a:gd name="T43" fmla="*/ 285 h 782"/>
              <a:gd name="T44" fmla="*/ 656 w 1968"/>
              <a:gd name="T45" fmla="*/ 657 h 782"/>
              <a:gd name="T46" fmla="*/ 796 w 1968"/>
              <a:gd name="T47" fmla="*/ 689 h 782"/>
              <a:gd name="T48" fmla="*/ 1072 w 1968"/>
              <a:gd name="T49" fmla="*/ 101 h 782"/>
              <a:gd name="T50" fmla="*/ 1092 w 1968"/>
              <a:gd name="T51" fmla="*/ 81 h 782"/>
              <a:gd name="T52" fmla="*/ 1100 w 1968"/>
              <a:gd name="T53" fmla="*/ 85 h 782"/>
              <a:gd name="T54" fmla="*/ 1164 w 1968"/>
              <a:gd name="T55" fmla="*/ 85 h 782"/>
              <a:gd name="T56" fmla="*/ 1180 w 1968"/>
              <a:gd name="T57" fmla="*/ 85 h 782"/>
              <a:gd name="T58" fmla="*/ 1208 w 1968"/>
              <a:gd name="T59" fmla="*/ 85 h 782"/>
              <a:gd name="T60" fmla="*/ 1236 w 1968"/>
              <a:gd name="T61" fmla="*/ 85 h 782"/>
              <a:gd name="T62" fmla="*/ 1264 w 1968"/>
              <a:gd name="T63" fmla="*/ 85 h 782"/>
              <a:gd name="T64" fmla="*/ 1288 w 1968"/>
              <a:gd name="T65" fmla="*/ 85 h 782"/>
              <a:gd name="T66" fmla="*/ 1316 w 1968"/>
              <a:gd name="T67" fmla="*/ 85 h 782"/>
              <a:gd name="T68" fmla="*/ 1372 w 1968"/>
              <a:gd name="T69" fmla="*/ 85 h 782"/>
              <a:gd name="T70" fmla="*/ 1408 w 1968"/>
              <a:gd name="T71" fmla="*/ 153 h 782"/>
              <a:gd name="T72" fmla="*/ 1512 w 1968"/>
              <a:gd name="T73" fmla="*/ 412 h 782"/>
              <a:gd name="T74" fmla="*/ 1716 w 1968"/>
              <a:gd name="T75" fmla="*/ 736 h 782"/>
              <a:gd name="T76" fmla="*/ 1968 w 1968"/>
              <a:gd name="T77" fmla="*/ 292 h 7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968" h="782">
                <a:moveTo>
                  <a:pt x="0" y="268"/>
                </a:moveTo>
                <a:cubicBezTo>
                  <a:pt x="11" y="238"/>
                  <a:pt x="53" y="119"/>
                  <a:pt x="68" y="89"/>
                </a:cubicBezTo>
                <a:cubicBezTo>
                  <a:pt x="83" y="59"/>
                  <a:pt x="75" y="86"/>
                  <a:pt x="88" y="85"/>
                </a:cubicBezTo>
                <a:cubicBezTo>
                  <a:pt x="101" y="84"/>
                  <a:pt x="135" y="86"/>
                  <a:pt x="148" y="85"/>
                </a:cubicBezTo>
                <a:cubicBezTo>
                  <a:pt x="161" y="84"/>
                  <a:pt x="161" y="81"/>
                  <a:pt x="168" y="81"/>
                </a:cubicBezTo>
                <a:cubicBezTo>
                  <a:pt x="175" y="81"/>
                  <a:pt x="185" y="84"/>
                  <a:pt x="192" y="85"/>
                </a:cubicBezTo>
                <a:cubicBezTo>
                  <a:pt x="199" y="86"/>
                  <a:pt x="197" y="85"/>
                  <a:pt x="208" y="85"/>
                </a:cubicBezTo>
                <a:cubicBezTo>
                  <a:pt x="219" y="85"/>
                  <a:pt x="238" y="85"/>
                  <a:pt x="256" y="85"/>
                </a:cubicBezTo>
                <a:cubicBezTo>
                  <a:pt x="274" y="85"/>
                  <a:pt x="311" y="85"/>
                  <a:pt x="316" y="85"/>
                </a:cubicBezTo>
                <a:cubicBezTo>
                  <a:pt x="321" y="85"/>
                  <a:pt x="285" y="85"/>
                  <a:pt x="288" y="85"/>
                </a:cubicBezTo>
                <a:cubicBezTo>
                  <a:pt x="291" y="85"/>
                  <a:pt x="327" y="84"/>
                  <a:pt x="336" y="85"/>
                </a:cubicBezTo>
                <a:cubicBezTo>
                  <a:pt x="345" y="86"/>
                  <a:pt x="335" y="91"/>
                  <a:pt x="340" y="92"/>
                </a:cubicBezTo>
                <a:cubicBezTo>
                  <a:pt x="345" y="93"/>
                  <a:pt x="365" y="91"/>
                  <a:pt x="368" y="89"/>
                </a:cubicBezTo>
                <a:cubicBezTo>
                  <a:pt x="371" y="87"/>
                  <a:pt x="360" y="83"/>
                  <a:pt x="360" y="81"/>
                </a:cubicBezTo>
                <a:cubicBezTo>
                  <a:pt x="360" y="79"/>
                  <a:pt x="370" y="78"/>
                  <a:pt x="368" y="77"/>
                </a:cubicBezTo>
                <a:cubicBezTo>
                  <a:pt x="366" y="76"/>
                  <a:pt x="349" y="77"/>
                  <a:pt x="348" y="77"/>
                </a:cubicBezTo>
                <a:cubicBezTo>
                  <a:pt x="347" y="77"/>
                  <a:pt x="358" y="75"/>
                  <a:pt x="360" y="77"/>
                </a:cubicBezTo>
                <a:cubicBezTo>
                  <a:pt x="362" y="79"/>
                  <a:pt x="356" y="88"/>
                  <a:pt x="360" y="89"/>
                </a:cubicBezTo>
                <a:cubicBezTo>
                  <a:pt x="364" y="90"/>
                  <a:pt x="376" y="80"/>
                  <a:pt x="384" y="81"/>
                </a:cubicBezTo>
                <a:cubicBezTo>
                  <a:pt x="392" y="82"/>
                  <a:pt x="398" y="76"/>
                  <a:pt x="408" y="93"/>
                </a:cubicBezTo>
                <a:cubicBezTo>
                  <a:pt x="418" y="110"/>
                  <a:pt x="431" y="149"/>
                  <a:pt x="444" y="181"/>
                </a:cubicBezTo>
                <a:cubicBezTo>
                  <a:pt x="457" y="213"/>
                  <a:pt x="449" y="206"/>
                  <a:pt x="484" y="285"/>
                </a:cubicBezTo>
                <a:cubicBezTo>
                  <a:pt x="519" y="364"/>
                  <a:pt x="604" y="590"/>
                  <a:pt x="656" y="657"/>
                </a:cubicBezTo>
                <a:cubicBezTo>
                  <a:pt x="708" y="724"/>
                  <a:pt x="727" y="782"/>
                  <a:pt x="796" y="689"/>
                </a:cubicBezTo>
                <a:cubicBezTo>
                  <a:pt x="865" y="596"/>
                  <a:pt x="1023" y="202"/>
                  <a:pt x="1072" y="101"/>
                </a:cubicBezTo>
                <a:cubicBezTo>
                  <a:pt x="1121" y="0"/>
                  <a:pt x="1087" y="84"/>
                  <a:pt x="1092" y="81"/>
                </a:cubicBezTo>
                <a:cubicBezTo>
                  <a:pt x="1097" y="78"/>
                  <a:pt x="1088" y="84"/>
                  <a:pt x="1100" y="85"/>
                </a:cubicBezTo>
                <a:cubicBezTo>
                  <a:pt x="1112" y="86"/>
                  <a:pt x="1151" y="85"/>
                  <a:pt x="1164" y="85"/>
                </a:cubicBezTo>
                <a:cubicBezTo>
                  <a:pt x="1177" y="85"/>
                  <a:pt x="1173" y="85"/>
                  <a:pt x="1180" y="85"/>
                </a:cubicBezTo>
                <a:cubicBezTo>
                  <a:pt x="1187" y="85"/>
                  <a:pt x="1199" y="85"/>
                  <a:pt x="1208" y="85"/>
                </a:cubicBezTo>
                <a:cubicBezTo>
                  <a:pt x="1217" y="85"/>
                  <a:pt x="1227" y="85"/>
                  <a:pt x="1236" y="85"/>
                </a:cubicBezTo>
                <a:cubicBezTo>
                  <a:pt x="1245" y="85"/>
                  <a:pt x="1255" y="85"/>
                  <a:pt x="1264" y="85"/>
                </a:cubicBezTo>
                <a:cubicBezTo>
                  <a:pt x="1273" y="85"/>
                  <a:pt x="1279" y="85"/>
                  <a:pt x="1288" y="85"/>
                </a:cubicBezTo>
                <a:cubicBezTo>
                  <a:pt x="1297" y="85"/>
                  <a:pt x="1302" y="85"/>
                  <a:pt x="1316" y="85"/>
                </a:cubicBezTo>
                <a:cubicBezTo>
                  <a:pt x="1330" y="85"/>
                  <a:pt x="1357" y="74"/>
                  <a:pt x="1372" y="85"/>
                </a:cubicBezTo>
                <a:cubicBezTo>
                  <a:pt x="1387" y="96"/>
                  <a:pt x="1385" y="99"/>
                  <a:pt x="1408" y="153"/>
                </a:cubicBezTo>
                <a:cubicBezTo>
                  <a:pt x="1431" y="207"/>
                  <a:pt x="1461" y="315"/>
                  <a:pt x="1512" y="412"/>
                </a:cubicBezTo>
                <a:cubicBezTo>
                  <a:pt x="1563" y="509"/>
                  <a:pt x="1640" y="756"/>
                  <a:pt x="1716" y="736"/>
                </a:cubicBezTo>
                <a:cubicBezTo>
                  <a:pt x="1792" y="716"/>
                  <a:pt x="1916" y="384"/>
                  <a:pt x="1968" y="292"/>
                </a:cubicBezTo>
              </a:path>
            </a:pathLst>
          </a:custGeom>
          <a:noFill/>
          <a:ln w="38100" cap="flat" cmpd="sng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</a:endParaRPr>
          </a:p>
        </p:txBody>
      </p:sp>
      <p:sp>
        <p:nvSpPr>
          <p:cNvPr id="26645" name="AutoShape 21"/>
          <p:cNvSpPr>
            <a:spLocks noChangeArrowheads="1"/>
          </p:cNvSpPr>
          <p:nvPr/>
        </p:nvSpPr>
        <p:spPr bwMode="auto">
          <a:xfrm>
            <a:off x="4572000" y="2362200"/>
            <a:ext cx="1447800" cy="685800"/>
          </a:xfrm>
          <a:prstGeom prst="wedgeRoundRectCallout">
            <a:avLst>
              <a:gd name="adj1" fmla="val -59542"/>
              <a:gd name="adj2" fmla="val -73843"/>
              <a:gd name="adj3" fmla="val 16667"/>
            </a:avLst>
          </a:prstGeom>
          <a:noFill/>
          <a:ln w="28575">
            <a:solidFill>
              <a:srgbClr val="0033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参考点</a:t>
            </a:r>
          </a:p>
        </p:txBody>
      </p:sp>
      <p:sp>
        <p:nvSpPr>
          <p:cNvPr id="26646" name="Text Box 22"/>
          <p:cNvSpPr txBox="1">
            <a:spLocks noChangeArrowheads="1"/>
          </p:cNvSpPr>
          <p:nvPr/>
        </p:nvSpPr>
        <p:spPr bwMode="auto">
          <a:xfrm>
            <a:off x="6619875" y="2020829"/>
            <a:ext cx="5047456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分析：二极管</a:t>
            </a:r>
            <a:r>
              <a:rPr kumimoji="1" lang="zh-CN" altLang="en-US" sz="28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阴极电位为 </a:t>
            </a:r>
            <a:r>
              <a:rPr kumimoji="1" lang="en-US" altLang="zh-CN" sz="28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8 V</a:t>
            </a:r>
            <a:endParaRPr kumimoji="1" lang="en-US" altLang="zh-CN" sz="2800" b="1" i="1" dirty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pSp>
        <p:nvGrpSpPr>
          <p:cNvPr id="26647" name="Group 23"/>
          <p:cNvGrpSpPr>
            <a:grpSpLocks/>
          </p:cNvGrpSpPr>
          <p:nvPr/>
        </p:nvGrpSpPr>
        <p:grpSpPr bwMode="auto">
          <a:xfrm>
            <a:off x="2789238" y="228601"/>
            <a:ext cx="2501900" cy="2017713"/>
            <a:chOff x="797" y="144"/>
            <a:chExt cx="1576" cy="1271"/>
          </a:xfrm>
        </p:grpSpPr>
        <p:sp>
          <p:nvSpPr>
            <p:cNvPr id="26648" name="Line 24"/>
            <p:cNvSpPr>
              <a:spLocks noChangeShapeType="1"/>
            </p:cNvSpPr>
            <p:nvPr/>
          </p:nvSpPr>
          <p:spPr bwMode="auto">
            <a:xfrm>
              <a:off x="864" y="1392"/>
              <a:ext cx="13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26649" name="Line 25"/>
            <p:cNvSpPr>
              <a:spLocks noChangeShapeType="1"/>
            </p:cNvSpPr>
            <p:nvPr/>
          </p:nvSpPr>
          <p:spPr bwMode="auto">
            <a:xfrm rot="5400000" flipV="1">
              <a:off x="1825" y="114"/>
              <a:ext cx="0" cy="76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grpSp>
          <p:nvGrpSpPr>
            <p:cNvPr id="26650" name="Group 26"/>
            <p:cNvGrpSpPr>
              <a:grpSpLocks/>
            </p:cNvGrpSpPr>
            <p:nvPr/>
          </p:nvGrpSpPr>
          <p:grpSpPr bwMode="auto">
            <a:xfrm rot="5400000">
              <a:off x="1697" y="679"/>
              <a:ext cx="196" cy="188"/>
              <a:chOff x="1264" y="918"/>
              <a:chExt cx="223" cy="214"/>
            </a:xfrm>
          </p:grpSpPr>
          <p:sp>
            <p:nvSpPr>
              <p:cNvPr id="26651" name="Line 27"/>
              <p:cNvSpPr>
                <a:spLocks noChangeShapeType="1"/>
              </p:cNvSpPr>
              <p:nvPr/>
            </p:nvSpPr>
            <p:spPr bwMode="auto">
              <a:xfrm rot="5400000" flipH="1">
                <a:off x="1369" y="1025"/>
                <a:ext cx="21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26652" name="AutoShape 28"/>
              <p:cNvSpPr>
                <a:spLocks noChangeArrowheads="1"/>
              </p:cNvSpPr>
              <p:nvPr/>
            </p:nvSpPr>
            <p:spPr bwMode="auto">
              <a:xfrm rot="5400000">
                <a:off x="1269" y="913"/>
                <a:ext cx="214" cy="223"/>
              </a:xfrm>
              <a:prstGeom prst="triangle">
                <a:avLst>
                  <a:gd name="adj" fmla="val 50000"/>
                </a:avLst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6653" name="Text Box 29"/>
            <p:cNvSpPr txBox="1">
              <a:spLocks noChangeArrowheads="1"/>
            </p:cNvSpPr>
            <p:nvPr/>
          </p:nvSpPr>
          <p:spPr bwMode="auto">
            <a:xfrm>
              <a:off x="1401" y="618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400" b="1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D</a:t>
              </a:r>
            </a:p>
          </p:txBody>
        </p:sp>
        <p:grpSp>
          <p:nvGrpSpPr>
            <p:cNvPr id="26654" name="Group 30"/>
            <p:cNvGrpSpPr>
              <a:grpSpLocks/>
            </p:cNvGrpSpPr>
            <p:nvPr/>
          </p:nvGrpSpPr>
          <p:grpSpPr bwMode="auto">
            <a:xfrm flipV="1">
              <a:off x="1696" y="997"/>
              <a:ext cx="224" cy="188"/>
              <a:chOff x="432" y="1296"/>
              <a:chExt cx="288" cy="288"/>
            </a:xfrm>
          </p:grpSpPr>
          <p:sp>
            <p:nvSpPr>
              <p:cNvPr id="26655" name="Line 31"/>
              <p:cNvSpPr>
                <a:spLocks noChangeShapeType="1"/>
              </p:cNvSpPr>
              <p:nvPr/>
            </p:nvSpPr>
            <p:spPr bwMode="auto">
              <a:xfrm>
                <a:off x="480" y="1296"/>
                <a:ext cx="19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26656" name="Line 32"/>
              <p:cNvSpPr>
                <a:spLocks noChangeShapeType="1"/>
              </p:cNvSpPr>
              <p:nvPr/>
            </p:nvSpPr>
            <p:spPr bwMode="auto">
              <a:xfrm>
                <a:off x="432" y="1392"/>
                <a:ext cx="28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26657" name="Line 33"/>
              <p:cNvSpPr>
                <a:spLocks noChangeShapeType="1"/>
              </p:cNvSpPr>
              <p:nvPr/>
            </p:nvSpPr>
            <p:spPr bwMode="auto">
              <a:xfrm>
                <a:off x="480" y="1488"/>
                <a:ext cx="19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26658" name="Line 34"/>
              <p:cNvSpPr>
                <a:spLocks noChangeShapeType="1"/>
              </p:cNvSpPr>
              <p:nvPr/>
            </p:nvSpPr>
            <p:spPr bwMode="auto">
              <a:xfrm>
                <a:off x="432" y="1584"/>
                <a:ext cx="28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6659" name="Rectangle 35"/>
            <p:cNvSpPr>
              <a:spLocks noChangeArrowheads="1"/>
            </p:cNvSpPr>
            <p:nvPr/>
          </p:nvSpPr>
          <p:spPr bwMode="auto">
            <a:xfrm rot="5400000">
              <a:off x="1241" y="355"/>
              <a:ext cx="120" cy="279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66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zh-CN" sz="2400" b="1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6660" name="Line 36"/>
            <p:cNvSpPr>
              <a:spLocks noChangeShapeType="1"/>
            </p:cNvSpPr>
            <p:nvPr/>
          </p:nvSpPr>
          <p:spPr bwMode="auto">
            <a:xfrm flipH="1">
              <a:off x="1792" y="491"/>
              <a:ext cx="0" cy="50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26661" name="Line 37"/>
            <p:cNvSpPr>
              <a:spLocks noChangeShapeType="1"/>
            </p:cNvSpPr>
            <p:nvPr/>
          </p:nvSpPr>
          <p:spPr bwMode="auto">
            <a:xfrm>
              <a:off x="1792" y="1193"/>
              <a:ext cx="0" cy="18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26662" name="Text Box 38"/>
            <p:cNvSpPr txBox="1">
              <a:spLocks noChangeArrowheads="1"/>
            </p:cNvSpPr>
            <p:nvPr/>
          </p:nvSpPr>
          <p:spPr bwMode="auto">
            <a:xfrm>
              <a:off x="1373" y="956"/>
              <a:ext cx="35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400" b="1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8V</a:t>
              </a:r>
            </a:p>
          </p:txBody>
        </p:sp>
        <p:sp>
          <p:nvSpPr>
            <p:cNvPr id="26663" name="Text Box 39"/>
            <p:cNvSpPr txBox="1">
              <a:spLocks noChangeArrowheads="1"/>
            </p:cNvSpPr>
            <p:nvPr/>
          </p:nvSpPr>
          <p:spPr bwMode="auto">
            <a:xfrm>
              <a:off x="1190" y="144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400" b="1" i="1"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R</a:t>
              </a:r>
            </a:p>
          </p:txBody>
        </p:sp>
        <p:sp>
          <p:nvSpPr>
            <p:cNvPr id="26664" name="Text Box 40"/>
            <p:cNvSpPr txBox="1">
              <a:spLocks noChangeArrowheads="1"/>
            </p:cNvSpPr>
            <p:nvPr/>
          </p:nvSpPr>
          <p:spPr bwMode="auto">
            <a:xfrm>
              <a:off x="2078" y="720"/>
              <a:ext cx="28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400" b="1" i="1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u</a:t>
              </a:r>
              <a:r>
                <a:rPr kumimoji="1" lang="en-US" altLang="zh-CN" sz="2400" b="1" baseline="-25000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o</a:t>
              </a:r>
              <a:endParaRPr kumimoji="1" lang="en-US" altLang="zh-CN" sz="24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6665" name="Text Box 41"/>
            <p:cNvSpPr txBox="1">
              <a:spLocks noChangeArrowheads="1"/>
            </p:cNvSpPr>
            <p:nvPr/>
          </p:nvSpPr>
          <p:spPr bwMode="auto">
            <a:xfrm>
              <a:off x="797" y="768"/>
              <a:ext cx="25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400" b="1" i="1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u</a:t>
              </a:r>
              <a:r>
                <a:rPr kumimoji="1" lang="en-US" altLang="zh-CN" sz="2400" b="1" baseline="-25000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i</a:t>
              </a:r>
              <a:endParaRPr kumimoji="1" lang="en-US" altLang="zh-CN" sz="24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6666" name="Text Box 42"/>
            <p:cNvSpPr txBox="1">
              <a:spLocks noChangeArrowheads="1"/>
            </p:cNvSpPr>
            <p:nvPr/>
          </p:nvSpPr>
          <p:spPr bwMode="auto">
            <a:xfrm>
              <a:off x="811" y="494"/>
              <a:ext cx="2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400" b="1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楷体_GB2312" pitchFamily="49" charset="-122"/>
                </a:rPr>
                <a:t>+</a:t>
              </a:r>
            </a:p>
          </p:txBody>
        </p:sp>
        <p:sp>
          <p:nvSpPr>
            <p:cNvPr id="26667" name="Text Box 43"/>
            <p:cNvSpPr txBox="1">
              <a:spLocks noChangeArrowheads="1"/>
            </p:cNvSpPr>
            <p:nvPr/>
          </p:nvSpPr>
          <p:spPr bwMode="auto">
            <a:xfrm>
              <a:off x="2120" y="480"/>
              <a:ext cx="2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400" b="1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楷体_GB2312" pitchFamily="49" charset="-122"/>
                </a:rPr>
                <a:t>+</a:t>
              </a:r>
            </a:p>
          </p:txBody>
        </p:sp>
        <p:sp>
          <p:nvSpPr>
            <p:cNvPr id="26668" name="Text Box 44"/>
            <p:cNvSpPr txBox="1">
              <a:spLocks noChangeArrowheads="1"/>
            </p:cNvSpPr>
            <p:nvPr/>
          </p:nvSpPr>
          <p:spPr bwMode="auto">
            <a:xfrm>
              <a:off x="811" y="1092"/>
              <a:ext cx="2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400" b="1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楷体_GB2312" pitchFamily="49" charset="-122"/>
                </a:rPr>
                <a:t>–</a:t>
              </a:r>
            </a:p>
          </p:txBody>
        </p:sp>
        <p:sp>
          <p:nvSpPr>
            <p:cNvPr id="26669" name="Text Box 45"/>
            <p:cNvSpPr txBox="1">
              <a:spLocks noChangeArrowheads="1"/>
            </p:cNvSpPr>
            <p:nvPr/>
          </p:nvSpPr>
          <p:spPr bwMode="auto">
            <a:xfrm>
              <a:off x="2077" y="1092"/>
              <a:ext cx="25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400" b="1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楷体_GB2312" pitchFamily="49" charset="-122"/>
                </a:rPr>
                <a:t>–</a:t>
              </a:r>
            </a:p>
          </p:txBody>
        </p:sp>
        <p:sp>
          <p:nvSpPr>
            <p:cNvPr id="26670" name="Line 46"/>
            <p:cNvSpPr>
              <a:spLocks noChangeShapeType="1"/>
            </p:cNvSpPr>
            <p:nvPr/>
          </p:nvSpPr>
          <p:spPr bwMode="auto">
            <a:xfrm>
              <a:off x="853" y="494"/>
              <a:ext cx="29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26671" name="Oval 47"/>
            <p:cNvSpPr>
              <a:spLocks noChangeArrowheads="1"/>
            </p:cNvSpPr>
            <p:nvPr/>
          </p:nvSpPr>
          <p:spPr bwMode="auto">
            <a:xfrm>
              <a:off x="816" y="457"/>
              <a:ext cx="48" cy="7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26672" name="Oval 48"/>
            <p:cNvSpPr>
              <a:spLocks noChangeArrowheads="1"/>
            </p:cNvSpPr>
            <p:nvPr/>
          </p:nvSpPr>
          <p:spPr bwMode="auto">
            <a:xfrm>
              <a:off x="816" y="1344"/>
              <a:ext cx="48" cy="7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26673" name="Oval 49"/>
            <p:cNvSpPr>
              <a:spLocks noChangeArrowheads="1"/>
            </p:cNvSpPr>
            <p:nvPr/>
          </p:nvSpPr>
          <p:spPr bwMode="auto">
            <a:xfrm>
              <a:off x="2208" y="455"/>
              <a:ext cx="48" cy="7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26674" name="Oval 50"/>
            <p:cNvSpPr>
              <a:spLocks noChangeArrowheads="1"/>
            </p:cNvSpPr>
            <p:nvPr/>
          </p:nvSpPr>
          <p:spPr bwMode="auto">
            <a:xfrm>
              <a:off x="2230" y="1342"/>
              <a:ext cx="48" cy="7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</p:grpSp>
      <p:grpSp>
        <p:nvGrpSpPr>
          <p:cNvPr id="26675" name="Group 51"/>
          <p:cNvGrpSpPr>
            <a:grpSpLocks/>
          </p:cNvGrpSpPr>
          <p:nvPr/>
        </p:nvGrpSpPr>
        <p:grpSpPr bwMode="auto">
          <a:xfrm>
            <a:off x="4243388" y="2170114"/>
            <a:ext cx="252412" cy="268287"/>
            <a:chOff x="1713" y="1367"/>
            <a:chExt cx="159" cy="169"/>
          </a:xfrm>
        </p:grpSpPr>
        <p:grpSp>
          <p:nvGrpSpPr>
            <p:cNvPr id="26676" name="Group 52"/>
            <p:cNvGrpSpPr>
              <a:grpSpLocks/>
            </p:cNvGrpSpPr>
            <p:nvPr/>
          </p:nvGrpSpPr>
          <p:grpSpPr bwMode="auto">
            <a:xfrm>
              <a:off x="1713" y="1392"/>
              <a:ext cx="159" cy="144"/>
              <a:chOff x="1702" y="1392"/>
              <a:chExt cx="159" cy="144"/>
            </a:xfrm>
          </p:grpSpPr>
          <p:sp>
            <p:nvSpPr>
              <p:cNvPr id="26677" name="Line 53"/>
              <p:cNvSpPr>
                <a:spLocks noChangeShapeType="1"/>
              </p:cNvSpPr>
              <p:nvPr/>
            </p:nvSpPr>
            <p:spPr bwMode="auto">
              <a:xfrm>
                <a:off x="1702" y="1536"/>
                <a:ext cx="159" cy="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26678" name="Line 54"/>
              <p:cNvSpPr>
                <a:spLocks noChangeShapeType="1"/>
              </p:cNvSpPr>
              <p:nvPr/>
            </p:nvSpPr>
            <p:spPr bwMode="auto">
              <a:xfrm>
                <a:off x="1776" y="1392"/>
                <a:ext cx="0" cy="144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6679" name="Oval 55"/>
            <p:cNvSpPr>
              <a:spLocks noChangeArrowheads="1"/>
            </p:cNvSpPr>
            <p:nvPr/>
          </p:nvSpPr>
          <p:spPr bwMode="auto">
            <a:xfrm>
              <a:off x="1752" y="1367"/>
              <a:ext cx="48" cy="48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337535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6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6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6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6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" grpId="0" autoUpdateAnimBg="0"/>
      <p:bldP spid="26630" grpId="0" autoUpdateAnimBg="0"/>
      <p:bldP spid="26632" grpId="0" autoUpdateAnimBg="0"/>
      <p:bldP spid="26641" grpId="0" animBg="1"/>
      <p:bldP spid="26645" grpId="0" animBg="1" autoUpdateAnimBg="0"/>
      <p:bldP spid="26646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3"/>
          <p:cNvSpPr txBox="1">
            <a:spLocks noChangeArrowheads="1"/>
          </p:cNvSpPr>
          <p:nvPr/>
        </p:nvSpPr>
        <p:spPr bwMode="auto">
          <a:xfrm>
            <a:off x="1919289" y="333376"/>
            <a:ext cx="15128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dirty="0" smtClean="0">
                <a:solidFill>
                  <a:srgbClr val="CC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例题</a:t>
            </a:r>
            <a:r>
              <a:rPr kumimoji="1" lang="en-US" altLang="zh-CN" dirty="0" smtClean="0">
                <a:solidFill>
                  <a:srgbClr val="CC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kumimoji="1" lang="zh-CN" altLang="en-US" dirty="0" smtClean="0">
                <a:solidFill>
                  <a:srgbClr val="CC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endParaRPr kumimoji="1" lang="zh-CN" altLang="en-US" dirty="0">
              <a:solidFill>
                <a:srgbClr val="CC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43" name="Text Box 4"/>
          <p:cNvSpPr txBox="1">
            <a:spLocks noChangeArrowheads="1"/>
          </p:cNvSpPr>
          <p:nvPr/>
        </p:nvSpPr>
        <p:spPr bwMode="auto">
          <a:xfrm>
            <a:off x="3151188" y="320676"/>
            <a:ext cx="68405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试画出电压</a:t>
            </a:r>
            <a:r>
              <a:rPr kumimoji="1" lang="en-US" altLang="zh-CN" i="1" dirty="0" err="1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u</a:t>
            </a:r>
            <a:r>
              <a:rPr kumimoji="1" lang="en-US" altLang="zh-CN" i="1" baseline="-15000" dirty="0" err="1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o</a:t>
            </a:r>
            <a:r>
              <a:rPr kumimoji="1" lang="zh-CN" altLang="en-US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的波形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。</a:t>
            </a:r>
          </a:p>
        </p:txBody>
      </p:sp>
      <p:grpSp>
        <p:nvGrpSpPr>
          <p:cNvPr id="61444" name="Group 30"/>
          <p:cNvGrpSpPr>
            <a:grpSpLocks/>
          </p:cNvGrpSpPr>
          <p:nvPr/>
        </p:nvGrpSpPr>
        <p:grpSpPr bwMode="auto">
          <a:xfrm>
            <a:off x="2063751" y="1125539"/>
            <a:ext cx="3960813" cy="2174875"/>
            <a:chOff x="521" y="981"/>
            <a:chExt cx="2495" cy="1370"/>
          </a:xfrm>
        </p:grpSpPr>
        <p:sp>
          <p:nvSpPr>
            <p:cNvPr id="61481" name="Text Box 23"/>
            <p:cNvSpPr txBox="1">
              <a:spLocks noChangeArrowheads="1"/>
            </p:cNvSpPr>
            <p:nvPr/>
          </p:nvSpPr>
          <p:spPr bwMode="auto">
            <a:xfrm>
              <a:off x="2470" y="1662"/>
              <a:ext cx="54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u</a:t>
              </a:r>
              <a:r>
                <a:rPr kumimoji="1"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61482" name="Text Box 25"/>
            <p:cNvSpPr txBox="1">
              <a:spLocks noChangeArrowheads="1"/>
            </p:cNvSpPr>
            <p:nvPr/>
          </p:nvSpPr>
          <p:spPr bwMode="auto">
            <a:xfrm>
              <a:off x="2425" y="1344"/>
              <a:ext cx="54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+</a:t>
              </a:r>
              <a:endParaRPr kumimoji="1" lang="en-US" altLang="zh-CN" i="1" baseline="-25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483" name="Text Box 26"/>
            <p:cNvSpPr txBox="1">
              <a:spLocks noChangeArrowheads="1"/>
            </p:cNvSpPr>
            <p:nvPr/>
          </p:nvSpPr>
          <p:spPr bwMode="auto">
            <a:xfrm>
              <a:off x="2471" y="1979"/>
              <a:ext cx="54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-</a:t>
              </a:r>
              <a:endParaRPr kumimoji="1" lang="en-US" altLang="zh-CN" i="1" baseline="-25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61484" name="Group 29"/>
            <p:cNvGrpSpPr>
              <a:grpSpLocks/>
            </p:cNvGrpSpPr>
            <p:nvPr/>
          </p:nvGrpSpPr>
          <p:grpSpPr bwMode="auto">
            <a:xfrm>
              <a:off x="521" y="981"/>
              <a:ext cx="2086" cy="1370"/>
              <a:chOff x="1837" y="654"/>
              <a:chExt cx="2086" cy="1370"/>
            </a:xfrm>
          </p:grpSpPr>
          <p:sp>
            <p:nvSpPr>
              <p:cNvPr id="61485" name="Rectangle 5"/>
              <p:cNvSpPr>
                <a:spLocks noChangeArrowheads="1"/>
              </p:cNvSpPr>
              <p:nvPr/>
            </p:nvSpPr>
            <p:spPr bwMode="auto">
              <a:xfrm>
                <a:off x="2426" y="981"/>
                <a:ext cx="227" cy="90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Tx/>
                  <a:buNone/>
                </a:pPr>
                <a:endParaRPr kumimoji="1" lang="zh-CN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1486" name="Line 6"/>
              <p:cNvSpPr>
                <a:spLocks noChangeShapeType="1"/>
              </p:cNvSpPr>
              <p:nvPr/>
            </p:nvSpPr>
            <p:spPr bwMode="auto">
              <a:xfrm flipH="1">
                <a:off x="2018" y="1026"/>
                <a:ext cx="408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487" name="Line 7"/>
              <p:cNvSpPr>
                <a:spLocks noChangeShapeType="1"/>
              </p:cNvSpPr>
              <p:nvPr/>
            </p:nvSpPr>
            <p:spPr bwMode="auto">
              <a:xfrm>
                <a:off x="2653" y="1026"/>
                <a:ext cx="1134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488" name="Oval 8"/>
              <p:cNvSpPr>
                <a:spLocks noChangeArrowheads="1"/>
              </p:cNvSpPr>
              <p:nvPr/>
            </p:nvSpPr>
            <p:spPr bwMode="auto">
              <a:xfrm>
                <a:off x="1928" y="981"/>
                <a:ext cx="90" cy="90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Tx/>
                  <a:buNone/>
                </a:pPr>
                <a:endParaRPr kumimoji="1" lang="zh-CN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1489" name="Line 9"/>
              <p:cNvSpPr>
                <a:spLocks noChangeShapeType="1"/>
              </p:cNvSpPr>
              <p:nvPr/>
            </p:nvSpPr>
            <p:spPr bwMode="auto">
              <a:xfrm flipH="1">
                <a:off x="2018" y="1979"/>
                <a:ext cx="1815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490" name="Oval 10"/>
              <p:cNvSpPr>
                <a:spLocks noChangeArrowheads="1"/>
              </p:cNvSpPr>
              <p:nvPr/>
            </p:nvSpPr>
            <p:spPr bwMode="auto">
              <a:xfrm>
                <a:off x="1928" y="1934"/>
                <a:ext cx="90" cy="90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Tx/>
                  <a:buNone/>
                </a:pPr>
                <a:endParaRPr kumimoji="1" lang="zh-CN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1491" name="AutoShape 11"/>
              <p:cNvSpPr>
                <a:spLocks noChangeArrowheads="1"/>
              </p:cNvSpPr>
              <p:nvPr/>
            </p:nvSpPr>
            <p:spPr bwMode="auto">
              <a:xfrm flipH="1" flipV="1">
                <a:off x="3016" y="1207"/>
                <a:ext cx="271" cy="182"/>
              </a:xfrm>
              <a:prstGeom prst="triangle">
                <a:avLst>
                  <a:gd name="adj" fmla="val 50000"/>
                </a:avLst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Tx/>
                  <a:buNone/>
                </a:pPr>
                <a:endParaRPr kumimoji="1" lang="zh-CN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1492" name="Line 12"/>
              <p:cNvSpPr>
                <a:spLocks noChangeShapeType="1"/>
              </p:cNvSpPr>
              <p:nvPr/>
            </p:nvSpPr>
            <p:spPr bwMode="auto">
              <a:xfrm>
                <a:off x="3152" y="1026"/>
                <a:ext cx="0" cy="18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493" name="Line 13"/>
              <p:cNvSpPr>
                <a:spLocks noChangeShapeType="1"/>
              </p:cNvSpPr>
              <p:nvPr/>
            </p:nvSpPr>
            <p:spPr bwMode="auto">
              <a:xfrm>
                <a:off x="2971" y="1389"/>
                <a:ext cx="363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494" name="Line 14"/>
              <p:cNvSpPr>
                <a:spLocks noChangeShapeType="1"/>
              </p:cNvSpPr>
              <p:nvPr/>
            </p:nvSpPr>
            <p:spPr bwMode="auto">
              <a:xfrm>
                <a:off x="3152" y="1389"/>
                <a:ext cx="0" cy="22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495" name="Line 15"/>
              <p:cNvSpPr>
                <a:spLocks noChangeShapeType="1"/>
              </p:cNvSpPr>
              <p:nvPr/>
            </p:nvSpPr>
            <p:spPr bwMode="auto">
              <a:xfrm>
                <a:off x="2971" y="1616"/>
                <a:ext cx="363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496" name="Line 16"/>
              <p:cNvSpPr>
                <a:spLocks noChangeShapeType="1"/>
              </p:cNvSpPr>
              <p:nvPr/>
            </p:nvSpPr>
            <p:spPr bwMode="auto">
              <a:xfrm>
                <a:off x="3061" y="1706"/>
                <a:ext cx="181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497" name="Line 17"/>
              <p:cNvSpPr>
                <a:spLocks noChangeShapeType="1"/>
              </p:cNvSpPr>
              <p:nvPr/>
            </p:nvSpPr>
            <p:spPr bwMode="auto">
              <a:xfrm>
                <a:off x="3152" y="1706"/>
                <a:ext cx="0" cy="27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498" name="Oval 18"/>
              <p:cNvSpPr>
                <a:spLocks noChangeArrowheads="1"/>
              </p:cNvSpPr>
              <p:nvPr/>
            </p:nvSpPr>
            <p:spPr bwMode="auto">
              <a:xfrm>
                <a:off x="3788" y="981"/>
                <a:ext cx="90" cy="90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Tx/>
                  <a:buNone/>
                </a:pPr>
                <a:endParaRPr kumimoji="1" lang="zh-CN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1499" name="Oval 19"/>
              <p:cNvSpPr>
                <a:spLocks noChangeArrowheads="1"/>
              </p:cNvSpPr>
              <p:nvPr/>
            </p:nvSpPr>
            <p:spPr bwMode="auto">
              <a:xfrm>
                <a:off x="3833" y="1934"/>
                <a:ext cx="90" cy="90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Tx/>
                  <a:buNone/>
                </a:pPr>
                <a:endParaRPr kumimoji="1" lang="zh-CN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1500" name="Text Box 20"/>
              <p:cNvSpPr txBox="1">
                <a:spLocks noChangeArrowheads="1"/>
              </p:cNvSpPr>
              <p:nvPr/>
            </p:nvSpPr>
            <p:spPr bwMode="auto">
              <a:xfrm>
                <a:off x="2427" y="654"/>
                <a:ext cx="2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R</a:t>
                </a:r>
              </a:p>
            </p:txBody>
          </p:sp>
          <p:sp>
            <p:nvSpPr>
              <p:cNvPr id="61501" name="Text Box 21"/>
              <p:cNvSpPr txBox="1">
                <a:spLocks noChangeArrowheads="1"/>
              </p:cNvSpPr>
              <p:nvPr/>
            </p:nvSpPr>
            <p:spPr bwMode="auto">
              <a:xfrm>
                <a:off x="1837" y="1344"/>
                <a:ext cx="545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u</a:t>
                </a:r>
                <a:r>
                  <a:rPr kumimoji="1" lang="en-US" altLang="zh-CN" i="1" baseline="-25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i</a:t>
                </a:r>
              </a:p>
            </p:txBody>
          </p:sp>
          <p:sp>
            <p:nvSpPr>
              <p:cNvPr id="61502" name="Text Box 22"/>
              <p:cNvSpPr txBox="1">
                <a:spLocks noChangeArrowheads="1"/>
              </p:cNvSpPr>
              <p:nvPr/>
            </p:nvSpPr>
            <p:spPr bwMode="auto">
              <a:xfrm>
                <a:off x="2472" y="1480"/>
                <a:ext cx="59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U</a:t>
                </a:r>
                <a:r>
                  <a:rPr kumimoji="1" lang="en-US" altLang="zh-CN" i="1" baseline="-25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REF</a:t>
                </a:r>
              </a:p>
            </p:txBody>
          </p:sp>
          <p:sp>
            <p:nvSpPr>
              <p:cNvPr id="61503" name="Text Box 24"/>
              <p:cNvSpPr txBox="1">
                <a:spLocks noChangeArrowheads="1"/>
              </p:cNvSpPr>
              <p:nvPr/>
            </p:nvSpPr>
            <p:spPr bwMode="auto">
              <a:xfrm>
                <a:off x="1837" y="1026"/>
                <a:ext cx="545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+</a:t>
                </a:r>
                <a:endParaRPr kumimoji="1"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1504" name="Text Box 27"/>
              <p:cNvSpPr txBox="1">
                <a:spLocks noChangeArrowheads="1"/>
              </p:cNvSpPr>
              <p:nvPr/>
            </p:nvSpPr>
            <p:spPr bwMode="auto">
              <a:xfrm>
                <a:off x="1881" y="1661"/>
                <a:ext cx="545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-</a:t>
                </a:r>
                <a:endParaRPr kumimoji="1"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1505" name="Text Box 28"/>
              <p:cNvSpPr txBox="1">
                <a:spLocks noChangeArrowheads="1"/>
              </p:cNvSpPr>
              <p:nvPr/>
            </p:nvSpPr>
            <p:spPr bwMode="auto">
              <a:xfrm>
                <a:off x="2653" y="1117"/>
                <a:ext cx="2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D</a:t>
                </a:r>
              </a:p>
            </p:txBody>
          </p:sp>
        </p:grpSp>
      </p:grpSp>
      <p:grpSp>
        <p:nvGrpSpPr>
          <p:cNvPr id="61445" name="Group 66"/>
          <p:cNvGrpSpPr>
            <a:grpSpLocks/>
          </p:cNvGrpSpPr>
          <p:nvPr/>
        </p:nvGrpSpPr>
        <p:grpSpPr bwMode="auto">
          <a:xfrm>
            <a:off x="6311900" y="1268414"/>
            <a:ext cx="3455988" cy="1855787"/>
            <a:chOff x="3016" y="799"/>
            <a:chExt cx="2177" cy="1169"/>
          </a:xfrm>
        </p:grpSpPr>
        <p:grpSp>
          <p:nvGrpSpPr>
            <p:cNvPr id="61466" name="Group 32"/>
            <p:cNvGrpSpPr>
              <a:grpSpLocks/>
            </p:cNvGrpSpPr>
            <p:nvPr/>
          </p:nvGrpSpPr>
          <p:grpSpPr bwMode="auto">
            <a:xfrm>
              <a:off x="3099" y="912"/>
              <a:ext cx="1789" cy="1056"/>
              <a:chOff x="2832" y="432"/>
              <a:chExt cx="2256" cy="1344"/>
            </a:xfrm>
          </p:grpSpPr>
          <p:sp>
            <p:nvSpPr>
              <p:cNvPr id="61475" name="Text Box 33"/>
              <p:cNvSpPr txBox="1">
                <a:spLocks noChangeArrowheads="1"/>
              </p:cNvSpPr>
              <p:nvPr/>
            </p:nvSpPr>
            <p:spPr bwMode="auto">
              <a:xfrm>
                <a:off x="2980" y="1209"/>
                <a:ext cx="239" cy="2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1800">
                    <a:latin typeface="Times New Roman" panose="02020603050405020304" pitchFamily="18" charset="0"/>
                    <a:ea typeface="楷体" panose="02010609060101010101" pitchFamily="49" charset="-122"/>
                  </a:rPr>
                  <a:t>0</a:t>
                </a:r>
                <a:endParaRPr kumimoji="1" lang="en-US" altLang="zh-CN" sz="1800" i="1">
                  <a:latin typeface="Times New Roman" panose="02020603050405020304" pitchFamily="18" charset="0"/>
                  <a:ea typeface="楷体" panose="02010609060101010101" pitchFamily="49" charset="-122"/>
                </a:endParaRPr>
              </a:p>
            </p:txBody>
          </p:sp>
          <p:sp>
            <p:nvSpPr>
              <p:cNvPr id="61476" name="Text Box 34"/>
              <p:cNvSpPr txBox="1">
                <a:spLocks noChangeArrowheads="1"/>
              </p:cNvSpPr>
              <p:nvPr/>
            </p:nvSpPr>
            <p:spPr bwMode="auto">
              <a:xfrm>
                <a:off x="2832" y="1488"/>
                <a:ext cx="527" cy="2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1600">
                    <a:latin typeface="Times New Roman" panose="02020603050405020304" pitchFamily="18" charset="0"/>
                    <a:ea typeface="楷体" panose="02010609060101010101" pitchFamily="49" charset="-122"/>
                  </a:rPr>
                  <a:t>-4V</a:t>
                </a:r>
                <a:endParaRPr kumimoji="1" lang="en-US" altLang="zh-CN" sz="1600" baseline="-25000">
                  <a:latin typeface="Times New Roman" panose="02020603050405020304" pitchFamily="18" charset="0"/>
                  <a:ea typeface="楷体" panose="02010609060101010101" pitchFamily="49" charset="-122"/>
                </a:endParaRPr>
              </a:p>
            </p:txBody>
          </p:sp>
          <p:sp>
            <p:nvSpPr>
              <p:cNvPr id="61477" name="Line 35"/>
              <p:cNvSpPr>
                <a:spLocks noChangeShapeType="1"/>
              </p:cNvSpPr>
              <p:nvPr/>
            </p:nvSpPr>
            <p:spPr bwMode="auto">
              <a:xfrm flipV="1">
                <a:off x="3168" y="432"/>
                <a:ext cx="0" cy="13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1478" name="Line 36"/>
              <p:cNvSpPr>
                <a:spLocks noChangeShapeType="1"/>
              </p:cNvSpPr>
              <p:nvPr/>
            </p:nvSpPr>
            <p:spPr bwMode="auto">
              <a:xfrm flipV="1">
                <a:off x="3168" y="720"/>
                <a:ext cx="528" cy="480"/>
              </a:xfrm>
              <a:prstGeom prst="line">
                <a:avLst/>
              </a:prstGeom>
              <a:noFill/>
              <a:ln w="38100">
                <a:solidFill>
                  <a:srgbClr val="FF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1479" name="Line 37"/>
              <p:cNvSpPr>
                <a:spLocks noChangeShapeType="1"/>
              </p:cNvSpPr>
              <p:nvPr/>
            </p:nvSpPr>
            <p:spPr bwMode="auto">
              <a:xfrm>
                <a:off x="3696" y="720"/>
                <a:ext cx="864" cy="960"/>
              </a:xfrm>
              <a:prstGeom prst="line">
                <a:avLst/>
              </a:prstGeom>
              <a:noFill/>
              <a:ln w="38100">
                <a:solidFill>
                  <a:srgbClr val="FF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1480" name="Line 38"/>
              <p:cNvSpPr>
                <a:spLocks noChangeShapeType="1"/>
              </p:cNvSpPr>
              <p:nvPr/>
            </p:nvSpPr>
            <p:spPr bwMode="auto">
              <a:xfrm flipV="1">
                <a:off x="4560" y="1248"/>
                <a:ext cx="528" cy="432"/>
              </a:xfrm>
              <a:prstGeom prst="line">
                <a:avLst/>
              </a:prstGeom>
              <a:noFill/>
              <a:ln w="38100">
                <a:solidFill>
                  <a:srgbClr val="FF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61467" name="Line 39"/>
            <p:cNvSpPr>
              <a:spLocks noChangeShapeType="1"/>
            </p:cNvSpPr>
            <p:nvPr/>
          </p:nvSpPr>
          <p:spPr bwMode="auto">
            <a:xfrm>
              <a:off x="3366" y="1139"/>
              <a:ext cx="1066" cy="0"/>
            </a:xfrm>
            <a:prstGeom prst="line">
              <a:avLst/>
            </a:prstGeom>
            <a:noFill/>
            <a:ln w="38100" cap="rnd">
              <a:solidFill>
                <a:srgbClr val="0000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468" name="Line 40"/>
            <p:cNvSpPr>
              <a:spLocks noChangeShapeType="1"/>
            </p:cNvSpPr>
            <p:nvPr/>
          </p:nvSpPr>
          <p:spPr bwMode="auto">
            <a:xfrm>
              <a:off x="3366" y="1893"/>
              <a:ext cx="1637" cy="0"/>
            </a:xfrm>
            <a:prstGeom prst="line">
              <a:avLst/>
            </a:prstGeom>
            <a:noFill/>
            <a:ln w="38100" cap="rnd">
              <a:solidFill>
                <a:srgbClr val="0000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469" name="Text Box 41"/>
            <p:cNvSpPr txBox="1">
              <a:spLocks noChangeArrowheads="1"/>
            </p:cNvSpPr>
            <p:nvPr/>
          </p:nvSpPr>
          <p:spPr bwMode="auto">
            <a:xfrm>
              <a:off x="3099" y="1025"/>
              <a:ext cx="41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1600">
                  <a:latin typeface="Times New Roman" panose="02020603050405020304" pitchFamily="18" charset="0"/>
                  <a:ea typeface="楷体" panose="02010609060101010101" pitchFamily="49" charset="-122"/>
                </a:rPr>
                <a:t>4V</a:t>
              </a:r>
            </a:p>
          </p:txBody>
        </p:sp>
        <p:sp>
          <p:nvSpPr>
            <p:cNvPr id="61470" name="Line 42"/>
            <p:cNvSpPr>
              <a:spLocks noChangeShapeType="1"/>
            </p:cNvSpPr>
            <p:nvPr/>
          </p:nvSpPr>
          <p:spPr bwMode="auto">
            <a:xfrm flipV="1">
              <a:off x="3251" y="1516"/>
              <a:ext cx="179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471" name="Text Box 43"/>
            <p:cNvSpPr txBox="1">
              <a:spLocks noChangeArrowheads="1"/>
            </p:cNvSpPr>
            <p:nvPr/>
          </p:nvSpPr>
          <p:spPr bwMode="auto">
            <a:xfrm>
              <a:off x="3099" y="799"/>
              <a:ext cx="30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 i="1">
                  <a:latin typeface="Times New Roman" panose="02020603050405020304" pitchFamily="18" charset="0"/>
                  <a:ea typeface="楷体" panose="02010609060101010101" pitchFamily="49" charset="-122"/>
                </a:rPr>
                <a:t>u</a:t>
              </a:r>
              <a:r>
                <a:rPr kumimoji="1" lang="en-US" altLang="zh-CN" sz="2400" baseline="-25000">
                  <a:latin typeface="Times New Roman" panose="02020603050405020304" pitchFamily="18" charset="0"/>
                  <a:ea typeface="楷体" panose="02010609060101010101" pitchFamily="49" charset="-122"/>
                </a:rPr>
                <a:t>i</a:t>
              </a:r>
              <a:endParaRPr kumimoji="1" lang="en-US" altLang="zh-CN" sz="2400"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61472" name="Text Box 44"/>
            <p:cNvSpPr txBox="1">
              <a:spLocks noChangeArrowheads="1"/>
            </p:cNvSpPr>
            <p:nvPr/>
          </p:nvSpPr>
          <p:spPr bwMode="auto">
            <a:xfrm>
              <a:off x="4965" y="1290"/>
              <a:ext cx="22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000" i="1">
                  <a:latin typeface="Times New Roman" panose="02020603050405020304" pitchFamily="18" charset="0"/>
                  <a:ea typeface="楷体" panose="02010609060101010101" pitchFamily="49" charset="-122"/>
                </a:rPr>
                <a:t>t</a:t>
              </a:r>
            </a:p>
          </p:txBody>
        </p:sp>
        <p:sp>
          <p:nvSpPr>
            <p:cNvPr id="61473" name="Text Box 45"/>
            <p:cNvSpPr txBox="1">
              <a:spLocks noChangeArrowheads="1"/>
            </p:cNvSpPr>
            <p:nvPr/>
          </p:nvSpPr>
          <p:spPr bwMode="auto">
            <a:xfrm>
              <a:off x="3016" y="1207"/>
              <a:ext cx="41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1600">
                  <a:latin typeface="Times New Roman" panose="02020603050405020304" pitchFamily="18" charset="0"/>
                  <a:ea typeface="楷体" panose="02010609060101010101" pitchFamily="49" charset="-122"/>
                </a:rPr>
                <a:t>U</a:t>
              </a:r>
              <a:r>
                <a:rPr kumimoji="1" lang="en-US" altLang="zh-CN" sz="1600" baseline="-25000">
                  <a:latin typeface="Times New Roman" panose="02020603050405020304" pitchFamily="18" charset="0"/>
                  <a:ea typeface="楷体" panose="02010609060101010101" pitchFamily="49" charset="-122"/>
                </a:rPr>
                <a:t>REF</a:t>
              </a:r>
              <a:endParaRPr kumimoji="1" lang="en-US" altLang="zh-CN" sz="1600"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61474" name="Line 46"/>
            <p:cNvSpPr>
              <a:spLocks noChangeShapeType="1"/>
            </p:cNvSpPr>
            <p:nvPr/>
          </p:nvSpPr>
          <p:spPr bwMode="auto">
            <a:xfrm>
              <a:off x="3366" y="1327"/>
              <a:ext cx="1637" cy="0"/>
            </a:xfrm>
            <a:prstGeom prst="line">
              <a:avLst/>
            </a:prstGeom>
            <a:noFill/>
            <a:ln w="38100" cap="rnd">
              <a:solidFill>
                <a:srgbClr val="0000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61446" name="Group 68"/>
          <p:cNvGrpSpPr>
            <a:grpSpLocks/>
          </p:cNvGrpSpPr>
          <p:nvPr/>
        </p:nvGrpSpPr>
        <p:grpSpPr bwMode="auto">
          <a:xfrm>
            <a:off x="6503988" y="3314701"/>
            <a:ext cx="3263900" cy="1914525"/>
            <a:chOff x="3137" y="1893"/>
            <a:chExt cx="2056" cy="1206"/>
          </a:xfrm>
        </p:grpSpPr>
        <p:sp>
          <p:nvSpPr>
            <p:cNvPr id="61462" name="Line 47"/>
            <p:cNvSpPr>
              <a:spLocks noChangeShapeType="1"/>
            </p:cNvSpPr>
            <p:nvPr/>
          </p:nvSpPr>
          <p:spPr bwMode="auto">
            <a:xfrm>
              <a:off x="3328" y="2684"/>
              <a:ext cx="1751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463" name="Line 48"/>
            <p:cNvSpPr>
              <a:spLocks noChangeShapeType="1"/>
            </p:cNvSpPr>
            <p:nvPr/>
          </p:nvSpPr>
          <p:spPr bwMode="auto">
            <a:xfrm flipV="1">
              <a:off x="3366" y="2044"/>
              <a:ext cx="0" cy="105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464" name="Text Box 49"/>
            <p:cNvSpPr txBox="1">
              <a:spLocks noChangeArrowheads="1"/>
            </p:cNvSpPr>
            <p:nvPr/>
          </p:nvSpPr>
          <p:spPr bwMode="auto">
            <a:xfrm>
              <a:off x="3137" y="1893"/>
              <a:ext cx="30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 i="1">
                  <a:latin typeface="Times New Roman" panose="02020603050405020304" pitchFamily="18" charset="0"/>
                  <a:ea typeface="楷体" panose="02010609060101010101" pitchFamily="49" charset="-122"/>
                </a:rPr>
                <a:t>u</a:t>
              </a:r>
              <a:r>
                <a:rPr kumimoji="1" lang="en-US" altLang="zh-CN" sz="2400" baseline="-25000">
                  <a:latin typeface="Times New Roman" panose="02020603050405020304" pitchFamily="18" charset="0"/>
                  <a:ea typeface="楷体" panose="02010609060101010101" pitchFamily="49" charset="-122"/>
                </a:rPr>
                <a:t>o</a:t>
              </a:r>
              <a:endParaRPr kumimoji="1" lang="en-US" altLang="zh-CN" sz="2400"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61465" name="Text Box 50"/>
            <p:cNvSpPr txBox="1">
              <a:spLocks noChangeArrowheads="1"/>
            </p:cNvSpPr>
            <p:nvPr/>
          </p:nvSpPr>
          <p:spPr bwMode="auto">
            <a:xfrm>
              <a:off x="5041" y="2458"/>
              <a:ext cx="15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000" i="1">
                  <a:latin typeface="Times New Roman" panose="02020603050405020304" pitchFamily="18" charset="0"/>
                  <a:ea typeface="楷体" panose="02010609060101010101" pitchFamily="49" charset="-122"/>
                </a:rPr>
                <a:t>t</a:t>
              </a:r>
            </a:p>
          </p:txBody>
        </p:sp>
      </p:grpSp>
      <p:grpSp>
        <p:nvGrpSpPr>
          <p:cNvPr id="7" name="Group 51"/>
          <p:cNvGrpSpPr>
            <a:grpSpLocks/>
          </p:cNvGrpSpPr>
          <p:nvPr/>
        </p:nvGrpSpPr>
        <p:grpSpPr bwMode="auto">
          <a:xfrm>
            <a:off x="7169151" y="2046289"/>
            <a:ext cx="665163" cy="3038475"/>
            <a:chOff x="3408" y="864"/>
            <a:chExt cx="528" cy="2544"/>
          </a:xfrm>
        </p:grpSpPr>
        <p:sp>
          <p:nvSpPr>
            <p:cNvPr id="61460" name="Line 52"/>
            <p:cNvSpPr>
              <a:spLocks noChangeShapeType="1"/>
            </p:cNvSpPr>
            <p:nvPr/>
          </p:nvSpPr>
          <p:spPr bwMode="auto">
            <a:xfrm>
              <a:off x="3408" y="912"/>
              <a:ext cx="0" cy="24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461" name="Line 53"/>
            <p:cNvSpPr>
              <a:spLocks noChangeShapeType="1"/>
            </p:cNvSpPr>
            <p:nvPr/>
          </p:nvSpPr>
          <p:spPr bwMode="auto">
            <a:xfrm>
              <a:off x="3936" y="864"/>
              <a:ext cx="0" cy="25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8" name="Group 69"/>
          <p:cNvGrpSpPr>
            <a:grpSpLocks/>
          </p:cNvGrpSpPr>
          <p:nvPr/>
        </p:nvGrpSpPr>
        <p:grpSpPr bwMode="auto">
          <a:xfrm>
            <a:off x="6867525" y="4211639"/>
            <a:ext cx="2478088" cy="1017587"/>
            <a:chOff x="3366" y="2653"/>
            <a:chExt cx="1561" cy="641"/>
          </a:xfrm>
        </p:grpSpPr>
        <p:sp>
          <p:nvSpPr>
            <p:cNvPr id="61457" name="Line 55"/>
            <p:cNvSpPr>
              <a:spLocks noChangeShapeType="1"/>
            </p:cNvSpPr>
            <p:nvPr/>
          </p:nvSpPr>
          <p:spPr bwMode="auto">
            <a:xfrm flipV="1">
              <a:off x="3366" y="2672"/>
              <a:ext cx="190" cy="214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458" name="Line 56"/>
            <p:cNvSpPr>
              <a:spLocks noChangeShapeType="1"/>
            </p:cNvSpPr>
            <p:nvPr/>
          </p:nvSpPr>
          <p:spPr bwMode="auto">
            <a:xfrm>
              <a:off x="3975" y="2653"/>
              <a:ext cx="495" cy="641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459" name="Line 57"/>
            <p:cNvSpPr>
              <a:spLocks noChangeShapeType="1"/>
            </p:cNvSpPr>
            <p:nvPr/>
          </p:nvSpPr>
          <p:spPr bwMode="auto">
            <a:xfrm flipV="1">
              <a:off x="4470" y="2867"/>
              <a:ext cx="457" cy="427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34554" name="Line 58"/>
          <p:cNvSpPr>
            <a:spLocks noChangeShapeType="1"/>
          </p:cNvSpPr>
          <p:nvPr/>
        </p:nvSpPr>
        <p:spPr bwMode="auto">
          <a:xfrm flipV="1">
            <a:off x="7169151" y="4216401"/>
            <a:ext cx="665163" cy="4763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34555" name="Line 59"/>
          <p:cNvSpPr>
            <a:spLocks noChangeShapeType="1"/>
          </p:cNvSpPr>
          <p:nvPr/>
        </p:nvSpPr>
        <p:spPr bwMode="auto">
          <a:xfrm>
            <a:off x="6816725" y="4221163"/>
            <a:ext cx="2598738" cy="0"/>
          </a:xfrm>
          <a:prstGeom prst="line">
            <a:avLst/>
          </a:prstGeom>
          <a:noFill/>
          <a:ln w="38100" cap="rnd">
            <a:solidFill>
              <a:srgbClr val="0000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34556" name="Text Box 60"/>
          <p:cNvSpPr txBox="1">
            <a:spLocks noChangeArrowheads="1"/>
          </p:cNvSpPr>
          <p:nvPr/>
        </p:nvSpPr>
        <p:spPr bwMode="auto">
          <a:xfrm>
            <a:off x="6238876" y="3956050"/>
            <a:ext cx="6651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1600">
                <a:latin typeface="Times New Roman" panose="02020603050405020304" pitchFamily="18" charset="0"/>
                <a:ea typeface="楷体" panose="02010609060101010101" pitchFamily="49" charset="-122"/>
              </a:rPr>
              <a:t>U</a:t>
            </a:r>
            <a:r>
              <a:rPr kumimoji="1" lang="en-US" altLang="zh-CN" sz="1600" baseline="-25000">
                <a:latin typeface="Times New Roman" panose="02020603050405020304" pitchFamily="18" charset="0"/>
                <a:ea typeface="楷体" panose="02010609060101010101" pitchFamily="49" charset="-122"/>
              </a:rPr>
              <a:t>REF</a:t>
            </a:r>
            <a:endParaRPr kumimoji="1" lang="en-US" altLang="zh-CN" sz="160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61452" name="Text Box 61"/>
          <p:cNvSpPr txBox="1">
            <a:spLocks noChangeArrowheads="1"/>
          </p:cNvSpPr>
          <p:nvPr/>
        </p:nvSpPr>
        <p:spPr bwMode="auto">
          <a:xfrm>
            <a:off x="1919289" y="3789363"/>
            <a:ext cx="10810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：</a:t>
            </a:r>
          </a:p>
        </p:txBody>
      </p:sp>
      <p:sp>
        <p:nvSpPr>
          <p:cNvPr id="234558" name="Text Box 62"/>
          <p:cNvSpPr txBox="1">
            <a:spLocks noChangeArrowheads="1"/>
          </p:cNvSpPr>
          <p:nvPr/>
        </p:nvSpPr>
        <p:spPr bwMode="auto">
          <a:xfrm>
            <a:off x="2424114" y="3789363"/>
            <a:ext cx="3025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）</a:t>
            </a:r>
            <a:r>
              <a:rPr kumimoji="1" lang="en-US" altLang="zh-CN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kumimoji="1" lang="en-US" altLang="zh-CN" i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&gt;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kumimoji="1" lang="en-US" altLang="zh-CN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REF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时，</a:t>
            </a:r>
          </a:p>
        </p:txBody>
      </p:sp>
      <p:sp>
        <p:nvSpPr>
          <p:cNvPr id="234559" name="Text Box 63"/>
          <p:cNvSpPr txBox="1">
            <a:spLocks noChangeArrowheads="1"/>
          </p:cNvSpPr>
          <p:nvPr/>
        </p:nvSpPr>
        <p:spPr bwMode="auto">
          <a:xfrm>
            <a:off x="2424114" y="5141913"/>
            <a:ext cx="3025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）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kumimoji="1" lang="en-US" altLang="zh-CN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&lt;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kumimoji="1" lang="en-US" altLang="zh-CN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REF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时，</a:t>
            </a:r>
          </a:p>
        </p:txBody>
      </p:sp>
      <p:graphicFrame>
        <p:nvGraphicFramePr>
          <p:cNvPr id="234560" name="Object 64"/>
          <p:cNvGraphicFramePr>
            <a:graphicFrameLocks noChangeAspect="1"/>
          </p:cNvGraphicFramePr>
          <p:nvPr/>
        </p:nvGraphicFramePr>
        <p:xfrm>
          <a:off x="3465513" y="4487863"/>
          <a:ext cx="1693862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4" name="Equation" r:id="rId3" imgW="647700" imgH="228600" progId="Equation.DSMT4">
                  <p:embed/>
                </p:oleObj>
              </mc:Choice>
              <mc:Fallback>
                <p:oleObj name="Equation" r:id="rId3" imgW="6477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5513" y="4487863"/>
                        <a:ext cx="1693862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561" name="Object 65"/>
          <p:cNvGraphicFramePr>
            <a:graphicFrameLocks noChangeAspect="1"/>
          </p:cNvGraphicFramePr>
          <p:nvPr/>
        </p:nvGraphicFramePr>
        <p:xfrm>
          <a:off x="3575051" y="5805488"/>
          <a:ext cx="1196975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5" name="Equation" r:id="rId5" imgW="457200" imgH="228600" progId="Equation.DSMT4">
                  <p:embed/>
                </p:oleObj>
              </mc:Choice>
              <mc:Fallback>
                <p:oleObj name="Equation" r:id="rId5" imgW="457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051" y="5805488"/>
                        <a:ext cx="1196975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95148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4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4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34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4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34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34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34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554" grpId="0" animBg="1"/>
      <p:bldP spid="234555" grpId="0" animBg="1"/>
      <p:bldP spid="234556" grpId="0"/>
      <p:bldP spid="234558" grpId="0"/>
      <p:bldP spid="23455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1136207" y="369453"/>
            <a:ext cx="3394075" cy="711200"/>
          </a:xfrm>
        </p:spPr>
        <p:txBody>
          <a:bodyPr/>
          <a:lstStyle/>
          <a:p>
            <a:pPr eaLnBrk="1" hangingPunct="1"/>
            <a:r>
              <a:rPr lang="zh-CN" altLang="en-US" sz="3200" b="1" dirty="0">
                <a:ea typeface="华文新魏" panose="02010800040101010101" pitchFamily="2" charset="-122"/>
              </a:rPr>
              <a:t>五、稳压二极管</a:t>
            </a:r>
          </a:p>
        </p:txBody>
      </p:sp>
      <p:sp>
        <p:nvSpPr>
          <p:cNvPr id="233475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1177060" y="2650124"/>
            <a:ext cx="3454687" cy="5540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kern="0" dirty="0">
                <a:solidFill>
                  <a:srgbClr val="663300"/>
                </a:solidFill>
                <a:latin typeface="宋体" panose="02010600030101010101" pitchFamily="2" charset="-122"/>
              </a:rPr>
              <a:t>★ ★ </a:t>
            </a:r>
            <a:r>
              <a:rPr lang="en-US" altLang="zh-CN" b="1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b="1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伏安特性</a:t>
            </a:r>
          </a:p>
        </p:txBody>
      </p:sp>
      <p:grpSp>
        <p:nvGrpSpPr>
          <p:cNvPr id="3" name="组合 65"/>
          <p:cNvGrpSpPr>
            <a:grpSpLocks/>
          </p:cNvGrpSpPr>
          <p:nvPr/>
        </p:nvGrpSpPr>
        <p:grpSpPr bwMode="auto">
          <a:xfrm>
            <a:off x="2934167" y="1468609"/>
            <a:ext cx="1697581" cy="1091884"/>
            <a:chOff x="1473200" y="5430838"/>
            <a:chExt cx="2520951" cy="1521021"/>
          </a:xfrm>
        </p:grpSpPr>
        <p:grpSp>
          <p:nvGrpSpPr>
            <p:cNvPr id="4" name="组合 64"/>
            <p:cNvGrpSpPr/>
            <p:nvPr/>
          </p:nvGrpSpPr>
          <p:grpSpPr>
            <a:xfrm>
              <a:off x="1473200" y="5430838"/>
              <a:ext cx="2520951" cy="792163"/>
              <a:chOff x="1473200" y="5430838"/>
              <a:chExt cx="2520951" cy="792163"/>
            </a:xfrm>
            <a:scene3d>
              <a:camera prst="orthographicFront">
                <a:rot lat="0" lon="10800000" rev="0"/>
              </a:camera>
              <a:lightRig rig="threePt" dir="t"/>
            </a:scene3d>
          </p:grpSpPr>
          <p:sp>
            <p:nvSpPr>
              <p:cNvPr id="9266" name="AutoShape 27"/>
              <p:cNvSpPr>
                <a:spLocks noChangeArrowheads="1"/>
              </p:cNvSpPr>
              <p:nvPr/>
            </p:nvSpPr>
            <p:spPr bwMode="auto">
              <a:xfrm rot="5400000">
                <a:off x="2409825" y="5646738"/>
                <a:ext cx="574675" cy="431800"/>
              </a:xfrm>
              <a:prstGeom prst="triangle">
                <a:avLst>
                  <a:gd name="adj" fmla="val 50000"/>
                </a:avLst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kumimoji="1" lang="zh-CN" altLang="en-US">
                  <a:latin typeface="Times New Roman" pitchFamily="18" charset="0"/>
                </a:endParaRPr>
              </a:p>
            </p:txBody>
          </p:sp>
          <p:sp>
            <p:nvSpPr>
              <p:cNvPr id="9267" name="Line 28"/>
              <p:cNvSpPr>
                <a:spLocks noChangeShapeType="1"/>
              </p:cNvSpPr>
              <p:nvPr/>
            </p:nvSpPr>
            <p:spPr bwMode="auto">
              <a:xfrm>
                <a:off x="1762125" y="5862638"/>
                <a:ext cx="1800225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kumimoji="1" lang="zh-CN" altLang="en-US">
                  <a:latin typeface="Times New Roman" pitchFamily="18" charset="0"/>
                </a:endParaRPr>
              </a:p>
            </p:txBody>
          </p:sp>
          <p:sp>
            <p:nvSpPr>
              <p:cNvPr id="9268" name="Line 29"/>
              <p:cNvSpPr>
                <a:spLocks noChangeShapeType="1"/>
              </p:cNvSpPr>
              <p:nvPr/>
            </p:nvSpPr>
            <p:spPr bwMode="auto">
              <a:xfrm flipV="1">
                <a:off x="2913063" y="5430838"/>
                <a:ext cx="0" cy="79216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kumimoji="1" lang="zh-CN" altLang="en-US">
                  <a:latin typeface="Times New Roman" pitchFamily="18" charset="0"/>
                </a:endParaRPr>
              </a:p>
            </p:txBody>
          </p:sp>
          <p:sp>
            <p:nvSpPr>
              <p:cNvPr id="9269" name="Line 30"/>
              <p:cNvSpPr>
                <a:spLocks noChangeShapeType="1"/>
              </p:cNvSpPr>
              <p:nvPr/>
            </p:nvSpPr>
            <p:spPr bwMode="auto">
              <a:xfrm flipH="1">
                <a:off x="2697163" y="5430838"/>
                <a:ext cx="215900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kumimoji="1" lang="zh-CN" altLang="en-US">
                  <a:latin typeface="Times New Roman" pitchFamily="18" charset="0"/>
                </a:endParaRPr>
              </a:p>
            </p:txBody>
          </p:sp>
          <p:sp>
            <p:nvSpPr>
              <p:cNvPr id="9270" name="Text Box 31"/>
              <p:cNvSpPr txBox="1">
                <a:spLocks noChangeArrowheads="1"/>
              </p:cNvSpPr>
              <p:nvPr/>
            </p:nvSpPr>
            <p:spPr bwMode="auto">
              <a:xfrm>
                <a:off x="1473200" y="5848351"/>
                <a:ext cx="576263" cy="369332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kumimoji="1" lang="zh-CN" altLang="en-US">
                    <a:solidFill>
                      <a:srgbClr val="000000"/>
                    </a:solidFill>
                    <a:latin typeface="Times New Roman" pitchFamily="18" charset="0"/>
                  </a:rPr>
                  <a:t>＋</a:t>
                </a:r>
              </a:p>
            </p:txBody>
          </p:sp>
          <p:sp>
            <p:nvSpPr>
              <p:cNvPr id="9271" name="Text Box 32"/>
              <p:cNvSpPr txBox="1">
                <a:spLocks noChangeArrowheads="1"/>
              </p:cNvSpPr>
              <p:nvPr/>
            </p:nvSpPr>
            <p:spPr bwMode="auto">
              <a:xfrm>
                <a:off x="3417888" y="5848351"/>
                <a:ext cx="576263" cy="369332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kumimoji="1" lang="zh-CN" altLang="en-US">
                    <a:solidFill>
                      <a:srgbClr val="000000"/>
                    </a:solidFill>
                    <a:latin typeface="Times New Roman" pitchFamily="18" charset="0"/>
                  </a:rPr>
                  <a:t>－</a:t>
                </a:r>
              </a:p>
            </p:txBody>
          </p:sp>
        </p:grpSp>
        <p:sp>
          <p:nvSpPr>
            <p:cNvPr id="53297" name="Rectangle 33"/>
            <p:cNvSpPr>
              <a:spLocks noChangeArrowheads="1"/>
            </p:cNvSpPr>
            <p:nvPr/>
          </p:nvSpPr>
          <p:spPr bwMode="auto">
            <a:xfrm>
              <a:off x="2468564" y="6223001"/>
              <a:ext cx="886820" cy="7288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  <a:r>
                <a:rPr kumimoji="1"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Z</a:t>
              </a:r>
            </a:p>
          </p:txBody>
        </p:sp>
      </p:grpSp>
      <p:sp>
        <p:nvSpPr>
          <p:cNvPr id="233509" name="Text Box 37"/>
          <p:cNvSpPr txBox="1">
            <a:spLocks noChangeArrowheads="1"/>
          </p:cNvSpPr>
          <p:nvPr/>
        </p:nvSpPr>
        <p:spPr bwMode="auto">
          <a:xfrm>
            <a:off x="1172437" y="3343448"/>
            <a:ext cx="6465936" cy="1512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ts val="1000"/>
              </a:spcBef>
              <a:buNone/>
            </a:pP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zh-CN" altLang="en-US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、正向导通，反向特性：</a:t>
            </a:r>
            <a:endParaRPr lang="en-US" altLang="zh-CN" sz="2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altLang="zh-CN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b</a:t>
            </a:r>
            <a:r>
              <a:rPr lang="zh-CN" altLang="en-US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、反向：</a:t>
            </a:r>
            <a:r>
              <a:rPr lang="en-US" altLang="zh-CN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I &lt;</a:t>
            </a:r>
            <a:r>
              <a:rPr lang="en-US" altLang="zh-CN" sz="2800" b="1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2000" b="1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Zmin</a:t>
            </a:r>
            <a:r>
              <a:rPr lang="en-US" altLang="zh-CN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时，不稳压，截至</a:t>
            </a:r>
          </a:p>
          <a:p>
            <a:pPr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altLang="zh-CN" sz="2800" b="1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 c</a:t>
            </a:r>
            <a:r>
              <a:rPr lang="zh-CN" altLang="en-US" sz="2800" b="1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800" b="1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ZM </a:t>
            </a:r>
            <a:r>
              <a:rPr lang="en-US" altLang="zh-CN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&gt; I &gt; </a:t>
            </a:r>
            <a:r>
              <a:rPr lang="en-US" altLang="zh-CN" sz="2800" b="1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2000" b="1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Zmin</a:t>
            </a:r>
            <a:r>
              <a:rPr lang="zh-CN" altLang="en-US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时，稳压</a:t>
            </a:r>
          </a:p>
        </p:txBody>
      </p:sp>
      <p:grpSp>
        <p:nvGrpSpPr>
          <p:cNvPr id="53272" name="Group 65"/>
          <p:cNvGrpSpPr>
            <a:grpSpLocks/>
          </p:cNvGrpSpPr>
          <p:nvPr/>
        </p:nvGrpSpPr>
        <p:grpSpPr bwMode="auto">
          <a:xfrm>
            <a:off x="3943891" y="4906706"/>
            <a:ext cx="3746161" cy="1889843"/>
            <a:chOff x="2971" y="2378"/>
            <a:chExt cx="2631" cy="1697"/>
          </a:xfrm>
        </p:grpSpPr>
        <p:sp>
          <p:nvSpPr>
            <p:cNvPr id="53274" name="AutoShape 41"/>
            <p:cNvSpPr>
              <a:spLocks noChangeArrowheads="1"/>
            </p:cNvSpPr>
            <p:nvPr/>
          </p:nvSpPr>
          <p:spPr bwMode="auto">
            <a:xfrm rot="5400000">
              <a:off x="3583" y="3542"/>
              <a:ext cx="296" cy="295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53275" name="Line 42"/>
            <p:cNvSpPr>
              <a:spLocks noChangeShapeType="1"/>
            </p:cNvSpPr>
            <p:nvPr/>
          </p:nvSpPr>
          <p:spPr bwMode="auto">
            <a:xfrm flipH="1">
              <a:off x="3152" y="3702"/>
              <a:ext cx="431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76" name="AutoShape 43"/>
            <p:cNvSpPr>
              <a:spLocks noChangeArrowheads="1"/>
            </p:cNvSpPr>
            <p:nvPr/>
          </p:nvSpPr>
          <p:spPr bwMode="auto">
            <a:xfrm rot="16200000" flipH="1">
              <a:off x="4354" y="2818"/>
              <a:ext cx="296" cy="250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53277" name="Line 44"/>
            <p:cNvSpPr>
              <a:spLocks noChangeShapeType="1"/>
            </p:cNvSpPr>
            <p:nvPr/>
          </p:nvSpPr>
          <p:spPr bwMode="auto">
            <a:xfrm>
              <a:off x="3878" y="3521"/>
              <a:ext cx="0" cy="36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78" name="Line 45"/>
            <p:cNvSpPr>
              <a:spLocks noChangeShapeType="1"/>
            </p:cNvSpPr>
            <p:nvPr/>
          </p:nvSpPr>
          <p:spPr bwMode="auto">
            <a:xfrm>
              <a:off x="3878" y="3702"/>
              <a:ext cx="499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79" name="Line 46"/>
            <p:cNvSpPr>
              <a:spLocks noChangeShapeType="1"/>
            </p:cNvSpPr>
            <p:nvPr/>
          </p:nvSpPr>
          <p:spPr bwMode="auto">
            <a:xfrm>
              <a:off x="4377" y="3521"/>
              <a:ext cx="0" cy="36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80" name="Line 48"/>
            <p:cNvSpPr>
              <a:spLocks noChangeShapeType="1"/>
            </p:cNvSpPr>
            <p:nvPr/>
          </p:nvSpPr>
          <p:spPr bwMode="auto">
            <a:xfrm>
              <a:off x="4468" y="3612"/>
              <a:ext cx="0" cy="18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81" name="Line 49"/>
            <p:cNvSpPr>
              <a:spLocks noChangeShapeType="1"/>
            </p:cNvSpPr>
            <p:nvPr/>
          </p:nvSpPr>
          <p:spPr bwMode="auto">
            <a:xfrm>
              <a:off x="4558" y="3521"/>
              <a:ext cx="0" cy="36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82" name="Line 50"/>
            <p:cNvSpPr>
              <a:spLocks noChangeShapeType="1"/>
            </p:cNvSpPr>
            <p:nvPr/>
          </p:nvSpPr>
          <p:spPr bwMode="auto">
            <a:xfrm>
              <a:off x="4649" y="3612"/>
              <a:ext cx="0" cy="18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83" name="Rectangle 51"/>
            <p:cNvSpPr>
              <a:spLocks noChangeArrowheads="1"/>
            </p:cNvSpPr>
            <p:nvPr/>
          </p:nvSpPr>
          <p:spPr bwMode="auto">
            <a:xfrm>
              <a:off x="4921" y="3658"/>
              <a:ext cx="318" cy="9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53284" name="Line 52"/>
            <p:cNvSpPr>
              <a:spLocks noChangeShapeType="1"/>
            </p:cNvSpPr>
            <p:nvPr/>
          </p:nvSpPr>
          <p:spPr bwMode="auto">
            <a:xfrm>
              <a:off x="4649" y="3702"/>
              <a:ext cx="27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85" name="Line 53"/>
            <p:cNvSpPr>
              <a:spLocks noChangeShapeType="1"/>
            </p:cNvSpPr>
            <p:nvPr/>
          </p:nvSpPr>
          <p:spPr bwMode="auto">
            <a:xfrm>
              <a:off x="5239" y="3702"/>
              <a:ext cx="363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86" name="Line 54"/>
            <p:cNvSpPr>
              <a:spLocks noChangeShapeType="1"/>
            </p:cNvSpPr>
            <p:nvPr/>
          </p:nvSpPr>
          <p:spPr bwMode="auto">
            <a:xfrm>
              <a:off x="4377" y="2795"/>
              <a:ext cx="0" cy="36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87" name="Line 55"/>
            <p:cNvSpPr>
              <a:spLocks noChangeShapeType="1"/>
            </p:cNvSpPr>
            <p:nvPr/>
          </p:nvSpPr>
          <p:spPr bwMode="auto">
            <a:xfrm flipH="1">
              <a:off x="3424" y="2931"/>
              <a:ext cx="953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88" name="Line 56"/>
            <p:cNvSpPr>
              <a:spLocks noChangeShapeType="1"/>
            </p:cNvSpPr>
            <p:nvPr/>
          </p:nvSpPr>
          <p:spPr bwMode="auto">
            <a:xfrm flipH="1">
              <a:off x="4332" y="2931"/>
              <a:ext cx="108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89" name="Line 57"/>
            <p:cNvSpPr>
              <a:spLocks noChangeShapeType="1"/>
            </p:cNvSpPr>
            <p:nvPr/>
          </p:nvSpPr>
          <p:spPr bwMode="auto">
            <a:xfrm>
              <a:off x="3424" y="2931"/>
              <a:ext cx="0" cy="77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90" name="Line 58"/>
            <p:cNvSpPr>
              <a:spLocks noChangeShapeType="1"/>
            </p:cNvSpPr>
            <p:nvPr/>
          </p:nvSpPr>
          <p:spPr bwMode="auto">
            <a:xfrm>
              <a:off x="5420" y="2931"/>
              <a:ext cx="0" cy="77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91" name="Rectangle 59"/>
            <p:cNvSpPr>
              <a:spLocks noChangeArrowheads="1"/>
            </p:cNvSpPr>
            <p:nvPr/>
          </p:nvSpPr>
          <p:spPr bwMode="auto">
            <a:xfrm>
              <a:off x="4190" y="2378"/>
              <a:ext cx="642" cy="4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  <a:r>
                <a:rPr kumimoji="1"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3292" name="Rectangle 60"/>
            <p:cNvSpPr>
              <a:spLocks noChangeArrowheads="1"/>
            </p:cNvSpPr>
            <p:nvPr/>
          </p:nvSpPr>
          <p:spPr bwMode="auto">
            <a:xfrm>
              <a:off x="3560" y="3203"/>
              <a:ext cx="554" cy="4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  <a:r>
                <a:rPr kumimoji="1"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3293" name="Rectangle 61"/>
            <p:cNvSpPr>
              <a:spLocks noChangeArrowheads="1"/>
            </p:cNvSpPr>
            <p:nvPr/>
          </p:nvSpPr>
          <p:spPr bwMode="auto">
            <a:xfrm>
              <a:off x="4332" y="3194"/>
              <a:ext cx="500" cy="4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Z</a:t>
              </a:r>
            </a:p>
          </p:txBody>
        </p:sp>
        <p:sp>
          <p:nvSpPr>
            <p:cNvPr id="53294" name="Rectangle 62"/>
            <p:cNvSpPr>
              <a:spLocks noChangeArrowheads="1"/>
            </p:cNvSpPr>
            <p:nvPr/>
          </p:nvSpPr>
          <p:spPr bwMode="auto">
            <a:xfrm>
              <a:off x="4921" y="3194"/>
              <a:ext cx="37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</a:t>
              </a:r>
              <a:r>
                <a:rPr kumimoji="1" lang="en-US" altLang="zh-CN" sz="28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z</a:t>
              </a:r>
            </a:p>
          </p:txBody>
        </p:sp>
        <p:sp>
          <p:nvSpPr>
            <p:cNvPr id="53295" name="Text Box 63"/>
            <p:cNvSpPr txBox="1">
              <a:spLocks noChangeArrowheads="1"/>
            </p:cNvSpPr>
            <p:nvPr/>
          </p:nvSpPr>
          <p:spPr bwMode="auto">
            <a:xfrm>
              <a:off x="2971" y="3748"/>
              <a:ext cx="31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7101090" y="545569"/>
            <a:ext cx="3384551" cy="3656721"/>
            <a:chOff x="7101090" y="545569"/>
            <a:chExt cx="3384551" cy="3656721"/>
          </a:xfrm>
        </p:grpSpPr>
        <p:grpSp>
          <p:nvGrpSpPr>
            <p:cNvPr id="2" name="Group 13"/>
            <p:cNvGrpSpPr>
              <a:grpSpLocks/>
            </p:cNvGrpSpPr>
            <p:nvPr/>
          </p:nvGrpSpPr>
          <p:grpSpPr bwMode="auto">
            <a:xfrm>
              <a:off x="7101091" y="545569"/>
              <a:ext cx="3024187" cy="3097213"/>
              <a:chOff x="385" y="1071"/>
              <a:chExt cx="1905" cy="1951"/>
            </a:xfrm>
          </p:grpSpPr>
          <p:sp>
            <p:nvSpPr>
              <p:cNvPr id="53299" name="Line 4"/>
              <p:cNvSpPr>
                <a:spLocks noChangeShapeType="1"/>
              </p:cNvSpPr>
              <p:nvPr/>
            </p:nvSpPr>
            <p:spPr bwMode="auto">
              <a:xfrm>
                <a:off x="385" y="2069"/>
                <a:ext cx="1860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00" name="Line 5"/>
              <p:cNvSpPr>
                <a:spLocks noChangeShapeType="1"/>
              </p:cNvSpPr>
              <p:nvPr/>
            </p:nvSpPr>
            <p:spPr bwMode="auto">
              <a:xfrm flipV="1">
                <a:off x="1429" y="1117"/>
                <a:ext cx="0" cy="190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01" name="Freeform 6"/>
              <p:cNvSpPr>
                <a:spLocks/>
              </p:cNvSpPr>
              <p:nvPr/>
            </p:nvSpPr>
            <p:spPr bwMode="auto">
              <a:xfrm>
                <a:off x="1429" y="1691"/>
                <a:ext cx="544" cy="378"/>
              </a:xfrm>
              <a:custGeom>
                <a:avLst/>
                <a:gdLst>
                  <a:gd name="T0" fmla="*/ 0 w 635"/>
                  <a:gd name="T1" fmla="*/ 363 h 378"/>
                  <a:gd name="T2" fmla="*/ 125 w 635"/>
                  <a:gd name="T3" fmla="*/ 363 h 378"/>
                  <a:gd name="T4" fmla="*/ 251 w 635"/>
                  <a:gd name="T5" fmla="*/ 273 h 378"/>
                  <a:gd name="T6" fmla="*/ 293 w 635"/>
                  <a:gd name="T7" fmla="*/ 0 h 3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35"/>
                  <a:gd name="T13" fmla="*/ 0 h 378"/>
                  <a:gd name="T14" fmla="*/ 635 w 635"/>
                  <a:gd name="T15" fmla="*/ 378 h 3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35" h="378">
                    <a:moveTo>
                      <a:pt x="0" y="363"/>
                    </a:moveTo>
                    <a:cubicBezTo>
                      <a:pt x="90" y="370"/>
                      <a:pt x="181" y="378"/>
                      <a:pt x="272" y="363"/>
                    </a:cubicBezTo>
                    <a:cubicBezTo>
                      <a:pt x="363" y="348"/>
                      <a:pt x="484" y="333"/>
                      <a:pt x="544" y="273"/>
                    </a:cubicBezTo>
                    <a:cubicBezTo>
                      <a:pt x="604" y="213"/>
                      <a:pt x="619" y="106"/>
                      <a:pt x="635" y="0"/>
                    </a:cubicBezTo>
                  </a:path>
                </a:pathLst>
              </a:cu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02" name="Line 7"/>
              <p:cNvSpPr>
                <a:spLocks noChangeShapeType="1"/>
              </p:cNvSpPr>
              <p:nvPr/>
            </p:nvSpPr>
            <p:spPr bwMode="auto">
              <a:xfrm flipV="1">
                <a:off x="1973" y="1207"/>
                <a:ext cx="91" cy="499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03" name="Freeform 9"/>
              <p:cNvSpPr>
                <a:spLocks/>
              </p:cNvSpPr>
              <p:nvPr/>
            </p:nvSpPr>
            <p:spPr bwMode="auto">
              <a:xfrm>
                <a:off x="567" y="2054"/>
                <a:ext cx="862" cy="242"/>
              </a:xfrm>
              <a:custGeom>
                <a:avLst/>
                <a:gdLst>
                  <a:gd name="T0" fmla="*/ 1068 w 817"/>
                  <a:gd name="T1" fmla="*/ 15 h 242"/>
                  <a:gd name="T2" fmla="*/ 357 w 817"/>
                  <a:gd name="T3" fmla="*/ 15 h 242"/>
                  <a:gd name="T4" fmla="*/ 59 w 817"/>
                  <a:gd name="T5" fmla="*/ 106 h 242"/>
                  <a:gd name="T6" fmla="*/ 0 w 817"/>
                  <a:gd name="T7" fmla="*/ 242 h 24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17"/>
                  <a:gd name="T13" fmla="*/ 0 h 242"/>
                  <a:gd name="T14" fmla="*/ 817 w 817"/>
                  <a:gd name="T15" fmla="*/ 242 h 24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17" h="242">
                    <a:moveTo>
                      <a:pt x="817" y="15"/>
                    </a:moveTo>
                    <a:cubicBezTo>
                      <a:pt x="609" y="7"/>
                      <a:pt x="401" y="0"/>
                      <a:pt x="272" y="15"/>
                    </a:cubicBezTo>
                    <a:cubicBezTo>
                      <a:pt x="143" y="30"/>
                      <a:pt x="90" y="68"/>
                      <a:pt x="45" y="106"/>
                    </a:cubicBezTo>
                    <a:cubicBezTo>
                      <a:pt x="0" y="144"/>
                      <a:pt x="0" y="193"/>
                      <a:pt x="0" y="242"/>
                    </a:cubicBezTo>
                  </a:path>
                </a:pathLst>
              </a:cu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04" name="Line 10"/>
              <p:cNvSpPr>
                <a:spLocks noChangeShapeType="1"/>
              </p:cNvSpPr>
              <p:nvPr/>
            </p:nvSpPr>
            <p:spPr bwMode="auto">
              <a:xfrm flipH="1">
                <a:off x="521" y="2296"/>
                <a:ext cx="46" cy="72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05" name="Text Box 11"/>
              <p:cNvSpPr txBox="1">
                <a:spLocks noChangeArrowheads="1"/>
              </p:cNvSpPr>
              <p:nvPr/>
            </p:nvSpPr>
            <p:spPr bwMode="auto">
              <a:xfrm>
                <a:off x="1973" y="2024"/>
                <a:ext cx="317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u</a:t>
                </a:r>
              </a:p>
            </p:txBody>
          </p:sp>
          <p:sp>
            <p:nvSpPr>
              <p:cNvPr id="53306" name="Text Box 12"/>
              <p:cNvSpPr txBox="1">
                <a:spLocks noChangeArrowheads="1"/>
              </p:cNvSpPr>
              <p:nvPr/>
            </p:nvSpPr>
            <p:spPr bwMode="auto">
              <a:xfrm>
                <a:off x="1112" y="1071"/>
                <a:ext cx="317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i</a:t>
                </a:r>
              </a:p>
            </p:txBody>
          </p:sp>
        </p:grpSp>
        <p:sp>
          <p:nvSpPr>
            <p:cNvPr id="233486" name="Line 14"/>
            <p:cNvSpPr>
              <a:spLocks noChangeShapeType="1"/>
            </p:cNvSpPr>
            <p:nvPr/>
          </p:nvSpPr>
          <p:spPr bwMode="auto">
            <a:xfrm>
              <a:off x="7390015" y="2186165"/>
              <a:ext cx="0" cy="1728788"/>
            </a:xfrm>
            <a:prstGeom prst="line">
              <a:avLst/>
            </a:prstGeom>
            <a:noFill/>
            <a:ln w="19050">
              <a:solidFill>
                <a:srgbClr val="FF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3487" name="Line 15"/>
            <p:cNvSpPr>
              <a:spLocks noChangeShapeType="1"/>
            </p:cNvSpPr>
            <p:nvPr/>
          </p:nvSpPr>
          <p:spPr bwMode="auto">
            <a:xfrm>
              <a:off x="7316990" y="3410128"/>
              <a:ext cx="0" cy="431800"/>
            </a:xfrm>
            <a:prstGeom prst="line">
              <a:avLst/>
            </a:prstGeom>
            <a:noFill/>
            <a:ln w="19050">
              <a:solidFill>
                <a:srgbClr val="FF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3488" name="Line 16"/>
            <p:cNvSpPr>
              <a:spLocks noChangeShapeType="1"/>
            </p:cNvSpPr>
            <p:nvPr/>
          </p:nvSpPr>
          <p:spPr bwMode="auto">
            <a:xfrm>
              <a:off x="7101090" y="3770490"/>
              <a:ext cx="215900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3489" name="Line 17"/>
            <p:cNvSpPr>
              <a:spLocks noChangeShapeType="1"/>
            </p:cNvSpPr>
            <p:nvPr/>
          </p:nvSpPr>
          <p:spPr bwMode="auto">
            <a:xfrm flipH="1">
              <a:off x="7390015" y="3770490"/>
              <a:ext cx="215900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3490" name="Line 18"/>
            <p:cNvSpPr>
              <a:spLocks noChangeShapeType="1"/>
            </p:cNvSpPr>
            <p:nvPr/>
          </p:nvSpPr>
          <p:spPr bwMode="auto">
            <a:xfrm>
              <a:off x="7390016" y="2617965"/>
              <a:ext cx="1368425" cy="0"/>
            </a:xfrm>
            <a:prstGeom prst="line">
              <a:avLst/>
            </a:prstGeom>
            <a:noFill/>
            <a:ln w="19050">
              <a:solidFill>
                <a:srgbClr val="FF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3491" name="Rectangle 19"/>
            <p:cNvSpPr>
              <a:spLocks noChangeArrowheads="1"/>
            </p:cNvSpPr>
            <p:nvPr/>
          </p:nvSpPr>
          <p:spPr bwMode="auto">
            <a:xfrm>
              <a:off x="7101090" y="1609903"/>
              <a:ext cx="588962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8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Z</a:t>
              </a:r>
            </a:p>
          </p:txBody>
        </p:sp>
        <p:sp>
          <p:nvSpPr>
            <p:cNvPr id="233492" name="Rectangle 20"/>
            <p:cNvSpPr>
              <a:spLocks noChangeArrowheads="1"/>
            </p:cNvSpPr>
            <p:nvPr/>
          </p:nvSpPr>
          <p:spPr bwMode="auto">
            <a:xfrm>
              <a:off x="8829877" y="2402066"/>
              <a:ext cx="863600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8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Zmin</a:t>
              </a:r>
            </a:p>
          </p:txBody>
        </p:sp>
        <p:sp>
          <p:nvSpPr>
            <p:cNvPr id="233494" name="Line 22"/>
            <p:cNvSpPr>
              <a:spLocks noChangeShapeType="1"/>
            </p:cNvSpPr>
            <p:nvPr/>
          </p:nvSpPr>
          <p:spPr bwMode="auto">
            <a:xfrm>
              <a:off x="7316991" y="3554590"/>
              <a:ext cx="1368425" cy="0"/>
            </a:xfrm>
            <a:prstGeom prst="line">
              <a:avLst/>
            </a:prstGeom>
            <a:noFill/>
            <a:ln w="19050">
              <a:solidFill>
                <a:srgbClr val="FF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3495" name="Line 23"/>
            <p:cNvSpPr>
              <a:spLocks noChangeShapeType="1"/>
            </p:cNvSpPr>
            <p:nvPr/>
          </p:nvSpPr>
          <p:spPr bwMode="auto">
            <a:xfrm>
              <a:off x="8325052" y="2402065"/>
              <a:ext cx="0" cy="21590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3496" name="Line 24"/>
            <p:cNvSpPr>
              <a:spLocks noChangeShapeType="1"/>
            </p:cNvSpPr>
            <p:nvPr/>
          </p:nvSpPr>
          <p:spPr bwMode="auto">
            <a:xfrm flipV="1">
              <a:off x="8325052" y="3554590"/>
              <a:ext cx="0" cy="21590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33497" name="Object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37093984"/>
                </p:ext>
              </p:extLst>
            </p:nvPr>
          </p:nvGraphicFramePr>
          <p:xfrm>
            <a:off x="8109152" y="2906890"/>
            <a:ext cx="431800" cy="401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8" name="Equation" r:id="rId3" imgW="190335" imgH="177646" progId="Equation.DSMT4">
                    <p:embed/>
                  </p:oleObj>
                </mc:Choice>
                <mc:Fallback>
                  <p:oleObj name="Equation" r:id="rId3" imgW="190335" imgH="177646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09152" y="2906890"/>
                          <a:ext cx="431800" cy="4016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3498" name="Object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79526927"/>
                </p:ext>
              </p:extLst>
            </p:nvPr>
          </p:nvGraphicFramePr>
          <p:xfrm>
            <a:off x="7172528" y="3810178"/>
            <a:ext cx="504825" cy="392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9" name="Equation" r:id="rId5" imgW="228402" imgH="177646" progId="Equation.DSMT4">
                    <p:embed/>
                  </p:oleObj>
                </mc:Choice>
                <mc:Fallback>
                  <p:oleObj name="Equation" r:id="rId5" imgW="228402" imgH="177646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72528" y="3810178"/>
                          <a:ext cx="504825" cy="3921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3540" name="Rectangle 68"/>
            <p:cNvSpPr>
              <a:spLocks noChangeArrowheads="1"/>
            </p:cNvSpPr>
            <p:nvPr/>
          </p:nvSpPr>
          <p:spPr bwMode="auto">
            <a:xfrm>
              <a:off x="8901316" y="2978329"/>
              <a:ext cx="1584325" cy="720725"/>
            </a:xfrm>
            <a:prstGeom prst="rect">
              <a:avLst/>
            </a:prstGeom>
            <a:noFill/>
            <a:ln w="19050">
              <a:solidFill>
                <a:srgbClr val="FF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000">
                  <a:solidFill>
                    <a:srgbClr val="CC0000"/>
                  </a:solidFill>
                  <a:latin typeface="Times New Roman" panose="02020603050405020304" pitchFamily="18" charset="0"/>
                </a:rPr>
                <a:t>正向导通与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000">
                  <a:solidFill>
                    <a:srgbClr val="CC0000"/>
                  </a:solidFill>
                  <a:latin typeface="Times New Roman" panose="02020603050405020304" pitchFamily="18" charset="0"/>
                </a:rPr>
                <a:t>二极管相同</a:t>
              </a:r>
            </a:p>
          </p:txBody>
        </p:sp>
      </p:grpSp>
      <p:sp>
        <p:nvSpPr>
          <p:cNvPr id="65" name="Text Box 66"/>
          <p:cNvSpPr txBox="1">
            <a:spLocks noChangeArrowheads="1"/>
          </p:cNvSpPr>
          <p:nvPr/>
        </p:nvSpPr>
        <p:spPr bwMode="auto">
          <a:xfrm>
            <a:off x="1264374" y="4946836"/>
            <a:ext cx="23763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kumimoji="1" lang="zh-CN" altLang="en-US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、等效电路</a:t>
            </a:r>
            <a:r>
              <a:rPr kumimoji="1" lang="zh-CN" altLang="en-US" sz="2800" dirty="0" smtClean="0">
                <a:latin typeface="Times New Roman" panose="02020603050405020304" pitchFamily="18" charset="0"/>
              </a:rPr>
              <a:t>：</a:t>
            </a:r>
            <a:endParaRPr kumimoji="1"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66" name="Text Box 35"/>
          <p:cNvSpPr txBox="1">
            <a:spLocks noChangeArrowheads="1"/>
          </p:cNvSpPr>
          <p:nvPr/>
        </p:nvSpPr>
        <p:spPr bwMode="auto">
          <a:xfrm>
            <a:off x="1213570" y="1545312"/>
            <a:ext cx="2016124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1" lang="zh-CN" altLang="en-US" sz="2800" b="1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、符号</a:t>
            </a:r>
            <a:r>
              <a:rPr kumimoji="1" lang="zh-CN" altLang="en-US" sz="2800" dirty="0" smtClean="0">
                <a:latin typeface="Times New Roman" panose="02020603050405020304" pitchFamily="18" charset="0"/>
              </a:rPr>
              <a:t>：</a:t>
            </a:r>
            <a:endParaRPr kumimoji="1" lang="zh-CN" altLang="en-US" sz="28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9011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3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33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475" grpId="0" build="p"/>
      <p:bldP spid="23350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774826" y="333376"/>
            <a:ext cx="2860675" cy="595313"/>
          </a:xfrm>
        </p:spPr>
        <p:txBody>
          <a:bodyPr/>
          <a:lstStyle/>
          <a:p>
            <a:pPr eaLnBrk="1" hangingPunct="1"/>
            <a:r>
              <a:rPr lang="en-US" altLang="zh-CN" sz="2800" b="1" dirty="0" smtClean="0">
                <a:solidFill>
                  <a:srgbClr val="0000CC"/>
                </a:solidFill>
                <a:ea typeface="华文新魏" panose="02010800040101010101" pitchFamily="2" charset="-122"/>
              </a:rPr>
              <a:t>3</a:t>
            </a:r>
            <a:r>
              <a:rPr lang="zh-CN" altLang="en-US" sz="2800" b="1" dirty="0" smtClean="0">
                <a:solidFill>
                  <a:srgbClr val="0000CC"/>
                </a:solidFill>
                <a:ea typeface="华文新魏" panose="02010800040101010101" pitchFamily="2" charset="-122"/>
              </a:rPr>
              <a:t>、</a:t>
            </a:r>
            <a:r>
              <a:rPr lang="zh-CN" altLang="en-US" sz="2800" b="1" dirty="0">
                <a:solidFill>
                  <a:srgbClr val="0000CC"/>
                </a:solidFill>
                <a:ea typeface="华文新魏" panose="02010800040101010101" pitchFamily="2" charset="-122"/>
              </a:rPr>
              <a:t>主要参数</a:t>
            </a:r>
          </a:p>
        </p:txBody>
      </p:sp>
      <p:sp>
        <p:nvSpPr>
          <p:cNvPr id="232451" name="Text Box 3"/>
          <p:cNvSpPr txBox="1">
            <a:spLocks noChangeArrowheads="1"/>
          </p:cNvSpPr>
          <p:nvPr/>
        </p:nvSpPr>
        <p:spPr bwMode="auto">
          <a:xfrm>
            <a:off x="2525316" y="4609367"/>
            <a:ext cx="41036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r</a:t>
            </a:r>
            <a:r>
              <a:rPr kumimoji="1"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Z</a:t>
            </a:r>
            <a:r>
              <a:rPr kumimoji="1" lang="zh-CN" altLang="en-US" sz="28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越小，稳压效果越好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；</a:t>
            </a:r>
          </a:p>
        </p:txBody>
      </p:sp>
      <p:sp>
        <p:nvSpPr>
          <p:cNvPr id="232452" name="Text Box 4"/>
          <p:cNvSpPr txBox="1">
            <a:spLocks noChangeArrowheads="1"/>
          </p:cNvSpPr>
          <p:nvPr/>
        </p:nvSpPr>
        <p:spPr bwMode="auto">
          <a:xfrm>
            <a:off x="1774825" y="1685926"/>
            <a:ext cx="84978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kumimoji="1" lang="en-US" altLang="zh-CN" sz="28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1" lang="zh-CN" altLang="en-US" sz="28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）稳定电流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Z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Zmin</a:t>
            </a:r>
            <a:r>
              <a:rPr kumimoji="1"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）</a:t>
            </a:r>
            <a:endParaRPr kumimoji="1" lang="zh-CN" altLang="en-US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7032625" y="2205038"/>
            <a:ext cx="3024188" cy="3600450"/>
            <a:chOff x="3470" y="1842"/>
            <a:chExt cx="1905" cy="2268"/>
          </a:xfrm>
        </p:grpSpPr>
        <p:grpSp>
          <p:nvGrpSpPr>
            <p:cNvPr id="54289" name="Group 5"/>
            <p:cNvGrpSpPr>
              <a:grpSpLocks/>
            </p:cNvGrpSpPr>
            <p:nvPr/>
          </p:nvGrpSpPr>
          <p:grpSpPr bwMode="auto">
            <a:xfrm>
              <a:off x="3470" y="1842"/>
              <a:ext cx="1905" cy="1951"/>
              <a:chOff x="385" y="1071"/>
              <a:chExt cx="1905" cy="1951"/>
            </a:xfrm>
          </p:grpSpPr>
          <p:sp>
            <p:nvSpPr>
              <p:cNvPr id="54300" name="Line 6"/>
              <p:cNvSpPr>
                <a:spLocks noChangeShapeType="1"/>
              </p:cNvSpPr>
              <p:nvPr/>
            </p:nvSpPr>
            <p:spPr bwMode="auto">
              <a:xfrm>
                <a:off x="385" y="2069"/>
                <a:ext cx="1860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01" name="Line 7"/>
              <p:cNvSpPr>
                <a:spLocks noChangeShapeType="1"/>
              </p:cNvSpPr>
              <p:nvPr/>
            </p:nvSpPr>
            <p:spPr bwMode="auto">
              <a:xfrm flipV="1">
                <a:off x="1429" y="1117"/>
                <a:ext cx="0" cy="190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02" name="Freeform 8"/>
              <p:cNvSpPr>
                <a:spLocks/>
              </p:cNvSpPr>
              <p:nvPr/>
            </p:nvSpPr>
            <p:spPr bwMode="auto">
              <a:xfrm>
                <a:off x="1429" y="1691"/>
                <a:ext cx="544" cy="378"/>
              </a:xfrm>
              <a:custGeom>
                <a:avLst/>
                <a:gdLst>
                  <a:gd name="T0" fmla="*/ 0 w 635"/>
                  <a:gd name="T1" fmla="*/ 363 h 378"/>
                  <a:gd name="T2" fmla="*/ 125 w 635"/>
                  <a:gd name="T3" fmla="*/ 363 h 378"/>
                  <a:gd name="T4" fmla="*/ 251 w 635"/>
                  <a:gd name="T5" fmla="*/ 273 h 378"/>
                  <a:gd name="T6" fmla="*/ 293 w 635"/>
                  <a:gd name="T7" fmla="*/ 0 h 3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35"/>
                  <a:gd name="T13" fmla="*/ 0 h 378"/>
                  <a:gd name="T14" fmla="*/ 635 w 635"/>
                  <a:gd name="T15" fmla="*/ 378 h 3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35" h="378">
                    <a:moveTo>
                      <a:pt x="0" y="363"/>
                    </a:moveTo>
                    <a:cubicBezTo>
                      <a:pt x="90" y="370"/>
                      <a:pt x="181" y="378"/>
                      <a:pt x="272" y="363"/>
                    </a:cubicBezTo>
                    <a:cubicBezTo>
                      <a:pt x="363" y="348"/>
                      <a:pt x="484" y="333"/>
                      <a:pt x="544" y="273"/>
                    </a:cubicBezTo>
                    <a:cubicBezTo>
                      <a:pt x="604" y="213"/>
                      <a:pt x="619" y="106"/>
                      <a:pt x="635" y="0"/>
                    </a:cubicBezTo>
                  </a:path>
                </a:pathLst>
              </a:cu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03" name="Line 9"/>
              <p:cNvSpPr>
                <a:spLocks noChangeShapeType="1"/>
              </p:cNvSpPr>
              <p:nvPr/>
            </p:nvSpPr>
            <p:spPr bwMode="auto">
              <a:xfrm flipV="1">
                <a:off x="1973" y="1207"/>
                <a:ext cx="91" cy="499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04" name="Freeform 10"/>
              <p:cNvSpPr>
                <a:spLocks/>
              </p:cNvSpPr>
              <p:nvPr/>
            </p:nvSpPr>
            <p:spPr bwMode="auto">
              <a:xfrm>
                <a:off x="567" y="2054"/>
                <a:ext cx="862" cy="242"/>
              </a:xfrm>
              <a:custGeom>
                <a:avLst/>
                <a:gdLst>
                  <a:gd name="T0" fmla="*/ 1068 w 817"/>
                  <a:gd name="T1" fmla="*/ 15 h 242"/>
                  <a:gd name="T2" fmla="*/ 357 w 817"/>
                  <a:gd name="T3" fmla="*/ 15 h 242"/>
                  <a:gd name="T4" fmla="*/ 59 w 817"/>
                  <a:gd name="T5" fmla="*/ 106 h 242"/>
                  <a:gd name="T6" fmla="*/ 0 w 817"/>
                  <a:gd name="T7" fmla="*/ 242 h 24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17"/>
                  <a:gd name="T13" fmla="*/ 0 h 242"/>
                  <a:gd name="T14" fmla="*/ 817 w 817"/>
                  <a:gd name="T15" fmla="*/ 242 h 24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17" h="242">
                    <a:moveTo>
                      <a:pt x="817" y="15"/>
                    </a:moveTo>
                    <a:cubicBezTo>
                      <a:pt x="609" y="7"/>
                      <a:pt x="401" y="0"/>
                      <a:pt x="272" y="15"/>
                    </a:cubicBezTo>
                    <a:cubicBezTo>
                      <a:pt x="143" y="30"/>
                      <a:pt x="90" y="68"/>
                      <a:pt x="45" y="106"/>
                    </a:cubicBezTo>
                    <a:cubicBezTo>
                      <a:pt x="0" y="144"/>
                      <a:pt x="0" y="193"/>
                      <a:pt x="0" y="242"/>
                    </a:cubicBezTo>
                  </a:path>
                </a:pathLst>
              </a:cu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05" name="Line 11"/>
              <p:cNvSpPr>
                <a:spLocks noChangeShapeType="1"/>
              </p:cNvSpPr>
              <p:nvPr/>
            </p:nvSpPr>
            <p:spPr bwMode="auto">
              <a:xfrm flipH="1">
                <a:off x="521" y="2296"/>
                <a:ext cx="46" cy="72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06" name="Text Box 12"/>
              <p:cNvSpPr txBox="1">
                <a:spLocks noChangeArrowheads="1"/>
              </p:cNvSpPr>
              <p:nvPr/>
            </p:nvSpPr>
            <p:spPr bwMode="auto">
              <a:xfrm>
                <a:off x="1973" y="2024"/>
                <a:ext cx="317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u</a:t>
                </a:r>
              </a:p>
            </p:txBody>
          </p:sp>
          <p:sp>
            <p:nvSpPr>
              <p:cNvPr id="54307" name="Text Box 13"/>
              <p:cNvSpPr txBox="1">
                <a:spLocks noChangeArrowheads="1"/>
              </p:cNvSpPr>
              <p:nvPr/>
            </p:nvSpPr>
            <p:spPr bwMode="auto">
              <a:xfrm>
                <a:off x="1112" y="1071"/>
                <a:ext cx="317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i</a:t>
                </a:r>
              </a:p>
            </p:txBody>
          </p:sp>
        </p:grpSp>
        <p:sp>
          <p:nvSpPr>
            <p:cNvPr id="54290" name="Line 14"/>
            <p:cNvSpPr>
              <a:spLocks noChangeShapeType="1"/>
            </p:cNvSpPr>
            <p:nvPr/>
          </p:nvSpPr>
          <p:spPr bwMode="auto">
            <a:xfrm>
              <a:off x="3652" y="2840"/>
              <a:ext cx="0" cy="1089"/>
            </a:xfrm>
            <a:prstGeom prst="line">
              <a:avLst/>
            </a:prstGeom>
            <a:noFill/>
            <a:ln w="19050">
              <a:solidFill>
                <a:srgbClr val="FF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91" name="Line 15"/>
            <p:cNvSpPr>
              <a:spLocks noChangeShapeType="1"/>
            </p:cNvSpPr>
            <p:nvPr/>
          </p:nvSpPr>
          <p:spPr bwMode="auto">
            <a:xfrm>
              <a:off x="3606" y="3611"/>
              <a:ext cx="0" cy="272"/>
            </a:xfrm>
            <a:prstGeom prst="line">
              <a:avLst/>
            </a:prstGeom>
            <a:noFill/>
            <a:ln w="19050">
              <a:solidFill>
                <a:srgbClr val="FF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92" name="Line 16"/>
            <p:cNvSpPr>
              <a:spLocks noChangeShapeType="1"/>
            </p:cNvSpPr>
            <p:nvPr/>
          </p:nvSpPr>
          <p:spPr bwMode="auto">
            <a:xfrm>
              <a:off x="3470" y="3838"/>
              <a:ext cx="136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93" name="Line 17"/>
            <p:cNvSpPr>
              <a:spLocks noChangeShapeType="1"/>
            </p:cNvSpPr>
            <p:nvPr/>
          </p:nvSpPr>
          <p:spPr bwMode="auto">
            <a:xfrm flipH="1">
              <a:off x="3652" y="3838"/>
              <a:ext cx="136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94" name="Line 18"/>
            <p:cNvSpPr>
              <a:spLocks noChangeShapeType="1"/>
            </p:cNvSpPr>
            <p:nvPr/>
          </p:nvSpPr>
          <p:spPr bwMode="auto">
            <a:xfrm>
              <a:off x="3652" y="3112"/>
              <a:ext cx="862" cy="0"/>
            </a:xfrm>
            <a:prstGeom prst="line">
              <a:avLst/>
            </a:prstGeom>
            <a:noFill/>
            <a:ln w="19050">
              <a:solidFill>
                <a:srgbClr val="FF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95" name="Rectangle 19"/>
            <p:cNvSpPr>
              <a:spLocks noChangeArrowheads="1"/>
            </p:cNvSpPr>
            <p:nvPr/>
          </p:nvSpPr>
          <p:spPr bwMode="auto">
            <a:xfrm>
              <a:off x="3470" y="2477"/>
              <a:ext cx="37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8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Z</a:t>
              </a:r>
            </a:p>
          </p:txBody>
        </p:sp>
        <p:sp>
          <p:nvSpPr>
            <p:cNvPr id="54296" name="Rectangle 20"/>
            <p:cNvSpPr>
              <a:spLocks noChangeArrowheads="1"/>
            </p:cNvSpPr>
            <p:nvPr/>
          </p:nvSpPr>
          <p:spPr bwMode="auto">
            <a:xfrm>
              <a:off x="4559" y="2976"/>
              <a:ext cx="57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8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Zmin</a:t>
              </a:r>
            </a:p>
          </p:txBody>
        </p:sp>
        <p:sp>
          <p:nvSpPr>
            <p:cNvPr id="54297" name="Line 21"/>
            <p:cNvSpPr>
              <a:spLocks noChangeShapeType="1"/>
            </p:cNvSpPr>
            <p:nvPr/>
          </p:nvSpPr>
          <p:spPr bwMode="auto">
            <a:xfrm>
              <a:off x="3600" y="3781"/>
              <a:ext cx="862" cy="0"/>
            </a:xfrm>
            <a:prstGeom prst="line">
              <a:avLst/>
            </a:prstGeom>
            <a:noFill/>
            <a:ln w="19050">
              <a:solidFill>
                <a:srgbClr val="FF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4298" name="Object 25"/>
            <p:cNvGraphicFramePr>
              <a:graphicFrameLocks noChangeAspect="1"/>
            </p:cNvGraphicFramePr>
            <p:nvPr/>
          </p:nvGraphicFramePr>
          <p:xfrm>
            <a:off x="3515" y="3863"/>
            <a:ext cx="318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39" name="Equation" r:id="rId3" imgW="228402" imgH="177646" progId="Equation.DSMT4">
                    <p:embed/>
                  </p:oleObj>
                </mc:Choice>
                <mc:Fallback>
                  <p:oleObj name="Equation" r:id="rId3" imgW="228402" imgH="177646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15" y="3863"/>
                          <a:ext cx="318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299" name="Rectangle 20"/>
            <p:cNvSpPr>
              <a:spLocks noChangeArrowheads="1"/>
            </p:cNvSpPr>
            <p:nvPr/>
          </p:nvSpPr>
          <p:spPr bwMode="auto">
            <a:xfrm>
              <a:off x="4604" y="3601"/>
              <a:ext cx="57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8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ZM</a:t>
              </a:r>
            </a:p>
          </p:txBody>
        </p:sp>
      </p:grpSp>
      <p:sp>
        <p:nvSpPr>
          <p:cNvPr id="232475" name="Text Box 27"/>
          <p:cNvSpPr txBox="1">
            <a:spLocks noChangeArrowheads="1"/>
          </p:cNvSpPr>
          <p:nvPr/>
        </p:nvSpPr>
        <p:spPr bwMode="auto">
          <a:xfrm>
            <a:off x="1778000" y="2405857"/>
            <a:ext cx="64087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kumimoji="1" lang="en-US" altLang="zh-CN" sz="28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kumimoji="1" lang="zh-CN" altLang="en-US" sz="28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）额定功耗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P</a:t>
            </a:r>
            <a:r>
              <a:rPr kumimoji="1"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ZM</a:t>
            </a:r>
            <a:r>
              <a:rPr kumimoji="1"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：</a:t>
            </a:r>
            <a:r>
              <a:rPr kumimoji="1"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P</a:t>
            </a:r>
            <a:r>
              <a:rPr kumimoji="1" lang="en-US" altLang="zh-CN" sz="2800" i="1" baseline="-250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ZM</a:t>
            </a:r>
            <a:r>
              <a:rPr kumimoji="1"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=</a:t>
            </a:r>
            <a:r>
              <a:rPr kumimoji="1"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kumimoji="1" lang="en-US" altLang="zh-CN" sz="2800" i="1" baseline="-250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Z </a:t>
            </a:r>
            <a:r>
              <a:rPr kumimoji="1"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i="1" baseline="-250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ZM </a:t>
            </a:r>
            <a:r>
              <a:rPr kumimoji="1"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；</a:t>
            </a:r>
            <a:endParaRPr kumimoji="1" lang="zh-CN" altLang="en-US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1829153" y="3663950"/>
            <a:ext cx="4631651" cy="1114425"/>
            <a:chOff x="384" y="2251"/>
            <a:chExt cx="2723" cy="702"/>
          </a:xfrm>
        </p:grpSpPr>
        <p:sp>
          <p:nvSpPr>
            <p:cNvPr id="54287" name="Text Box 28"/>
            <p:cNvSpPr txBox="1">
              <a:spLocks noChangeArrowheads="1"/>
            </p:cNvSpPr>
            <p:nvPr/>
          </p:nvSpPr>
          <p:spPr bwMode="auto">
            <a:xfrm>
              <a:off x="384" y="2423"/>
              <a:ext cx="235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（</a:t>
              </a:r>
              <a:r>
                <a:rPr kumimoji="1" lang="en-US" altLang="zh-CN" sz="28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4</a:t>
              </a:r>
              <a:r>
                <a:rPr kumimoji="1" lang="zh-CN" altLang="en-US" sz="28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）动态电阻</a:t>
              </a:r>
              <a:r>
                <a:rPr kumimoji="1"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</a:rPr>
                <a:t>r</a:t>
              </a:r>
              <a:r>
                <a:rPr kumimoji="1"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</a:rPr>
                <a:t>Z</a:t>
              </a:r>
              <a:r>
                <a:rPr kumimoji="1"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：</a:t>
              </a:r>
            </a:p>
          </p:txBody>
        </p:sp>
        <p:graphicFrame>
          <p:nvGraphicFramePr>
            <p:cNvPr id="54288" name="Object 31"/>
            <p:cNvGraphicFramePr>
              <a:graphicFrameLocks noChangeAspect="1"/>
            </p:cNvGraphicFramePr>
            <p:nvPr/>
          </p:nvGraphicFramePr>
          <p:xfrm>
            <a:off x="2064" y="2251"/>
            <a:ext cx="1043" cy="7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40" name="Equation" r:id="rId5" imgW="660113" imgH="444307" progId="Equation.DSMT4">
                    <p:embed/>
                  </p:oleObj>
                </mc:Choice>
                <mc:Fallback>
                  <p:oleObj name="Equation" r:id="rId5" imgW="660113" imgH="44430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4" y="2251"/>
                          <a:ext cx="1043" cy="7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2483" name="Text Box 35"/>
          <p:cNvSpPr txBox="1">
            <a:spLocks noChangeArrowheads="1"/>
          </p:cNvSpPr>
          <p:nvPr/>
        </p:nvSpPr>
        <p:spPr bwMode="auto">
          <a:xfrm>
            <a:off x="1774825" y="981076"/>
            <a:ext cx="41036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kumimoji="1" lang="en-US" altLang="zh-CN" sz="28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1" lang="zh-CN" altLang="en-US" sz="28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）稳压值</a:t>
            </a:r>
            <a:r>
              <a:rPr kumimoji="1"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kumimoji="1" lang="en-US" altLang="zh-CN" sz="24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Z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；</a:t>
            </a:r>
          </a:p>
        </p:txBody>
      </p:sp>
      <p:grpSp>
        <p:nvGrpSpPr>
          <p:cNvPr id="5" name="Group 37"/>
          <p:cNvGrpSpPr>
            <a:grpSpLocks/>
          </p:cNvGrpSpPr>
          <p:nvPr/>
        </p:nvGrpSpPr>
        <p:grpSpPr bwMode="auto">
          <a:xfrm>
            <a:off x="1809091" y="5217457"/>
            <a:ext cx="4605069" cy="1033462"/>
            <a:chOff x="352" y="3430"/>
            <a:chExt cx="2755" cy="651"/>
          </a:xfrm>
        </p:grpSpPr>
        <p:graphicFrame>
          <p:nvGraphicFramePr>
            <p:cNvPr id="54285" name="Object 29"/>
            <p:cNvGraphicFramePr>
              <a:graphicFrameLocks noChangeAspect="1"/>
            </p:cNvGraphicFramePr>
            <p:nvPr/>
          </p:nvGraphicFramePr>
          <p:xfrm>
            <a:off x="2109" y="3430"/>
            <a:ext cx="998" cy="6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41" name="Equation" r:id="rId7" imgW="622030" imgH="406224" progId="Equation.DSMT4">
                    <p:embed/>
                  </p:oleObj>
                </mc:Choice>
                <mc:Fallback>
                  <p:oleObj name="Equation" r:id="rId7" imgW="622030" imgH="406224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9" y="3430"/>
                          <a:ext cx="998" cy="6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286" name="Text Box 36"/>
            <p:cNvSpPr txBox="1">
              <a:spLocks noChangeArrowheads="1"/>
            </p:cNvSpPr>
            <p:nvPr/>
          </p:nvSpPr>
          <p:spPr bwMode="auto">
            <a:xfrm>
              <a:off x="352" y="3602"/>
              <a:ext cx="23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（</a:t>
              </a:r>
              <a:r>
                <a:rPr kumimoji="1" lang="en-US" altLang="zh-CN" sz="28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5</a:t>
              </a:r>
              <a:r>
                <a:rPr kumimoji="1" lang="zh-CN" altLang="en-US" sz="2800" dirty="0">
                  <a:solidFill>
                    <a:srgbClr val="0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）温度系数</a:t>
              </a:r>
              <a:r>
                <a:rPr kumimoji="1"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α</a:t>
              </a:r>
              <a:r>
                <a:rPr kumimoji="1"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：</a:t>
              </a:r>
            </a:p>
          </p:txBody>
        </p:sp>
      </p:grpSp>
      <p:sp>
        <p:nvSpPr>
          <p:cNvPr id="35" name="矩形 34"/>
          <p:cNvSpPr>
            <a:spLocks noChangeArrowheads="1"/>
          </p:cNvSpPr>
          <p:nvPr/>
        </p:nvSpPr>
        <p:spPr bwMode="auto">
          <a:xfrm>
            <a:off x="2990057" y="3104357"/>
            <a:ext cx="7858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ZM</a:t>
            </a:r>
            <a:endParaRPr kumimoji="1"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37" name="TextBox 36"/>
          <p:cNvSpPr txBox="1">
            <a:spLocks noChangeArrowheads="1"/>
          </p:cNvSpPr>
          <p:nvPr/>
        </p:nvSpPr>
        <p:spPr bwMode="auto">
          <a:xfrm>
            <a:off x="3527427" y="3194051"/>
            <a:ext cx="29289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---</a:t>
            </a:r>
            <a:r>
              <a:rPr kumimoji="1" lang="zh-CN" altLang="en-US" sz="28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最大稳定电流</a:t>
            </a:r>
          </a:p>
        </p:txBody>
      </p:sp>
    </p:spTree>
    <p:extLst>
      <p:ext uri="{BB962C8B-B14F-4D97-AF65-F5344CB8AC3E}">
        <p14:creationId xmlns:p14="http://schemas.microsoft.com/office/powerpoint/2010/main" val="3389111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2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32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32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32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2451" grpId="0"/>
      <p:bldP spid="232452" grpId="0"/>
      <p:bldP spid="232483" grpId="0"/>
      <p:bldP spid="35" grpId="0"/>
      <p:bldP spid="3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Text Box 2"/>
          <p:cNvSpPr txBox="1">
            <a:spLocks noChangeArrowheads="1"/>
          </p:cNvSpPr>
          <p:nvPr/>
        </p:nvSpPr>
        <p:spPr bwMode="auto">
          <a:xfrm>
            <a:off x="761734" y="200803"/>
            <a:ext cx="6503730" cy="1742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None/>
            </a:pPr>
            <a:r>
              <a:rPr lang="en-US" altLang="zh-CN" sz="2800" kern="0" dirty="0">
                <a:solidFill>
                  <a:srgbClr val="663300"/>
                </a:solidFill>
                <a:latin typeface="宋体" panose="02010600030101010101" pitchFamily="2" charset="-122"/>
              </a:rPr>
              <a:t>★ ★ </a:t>
            </a:r>
            <a:r>
              <a:rPr kumimoji="1" lang="en-US" altLang="zh-CN" sz="2800" dirty="0" smtClean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kumimoji="1" lang="zh-CN" altLang="en-US" sz="2800" dirty="0" smtClean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、应用</a:t>
            </a:r>
            <a:endParaRPr kumimoji="1" lang="en-US" altLang="zh-CN" sz="2800" dirty="0" smtClean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just">
              <a:spcBef>
                <a:spcPct val="0"/>
              </a:spcBef>
              <a:buNone/>
            </a:pPr>
            <a:endParaRPr kumimoji="1" lang="en-US" altLang="zh-CN" sz="2800" dirty="0" smtClean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just">
              <a:spcBef>
                <a:spcPct val="0"/>
              </a:spcBef>
              <a:buNone/>
            </a:pPr>
            <a:r>
              <a:rPr kumimoji="1" lang="zh-CN" altLang="en-US" sz="2800" dirty="0" smtClean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串联限流电阻，使</a:t>
            </a:r>
            <a:r>
              <a:rPr lang="en-US" altLang="zh-CN" sz="2800" b="1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ZM </a:t>
            </a:r>
            <a:r>
              <a:rPr lang="en-US" altLang="zh-CN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&gt; I &gt; </a:t>
            </a:r>
            <a:r>
              <a:rPr lang="en-US" altLang="zh-CN" sz="2800" b="1" dirty="0" err="1" smtClean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2000" b="1" dirty="0" err="1" smtClean="0">
                <a:latin typeface="华文新魏" panose="02010800040101010101" pitchFamily="2" charset="-122"/>
                <a:ea typeface="华文新魏" panose="02010800040101010101" pitchFamily="2" charset="-122"/>
              </a:rPr>
              <a:t>Zmin</a:t>
            </a:r>
            <a:endParaRPr kumimoji="1" lang="zh-CN" altLang="en-US" sz="2800" dirty="0">
              <a:latin typeface="宋体" panose="02010600030101010101" pitchFamily="2" charset="-122"/>
            </a:endParaRPr>
          </a:p>
        </p:txBody>
      </p:sp>
      <p:grpSp>
        <p:nvGrpSpPr>
          <p:cNvPr id="55299" name="Group 35"/>
          <p:cNvGrpSpPr>
            <a:grpSpLocks/>
          </p:cNvGrpSpPr>
          <p:nvPr/>
        </p:nvGrpSpPr>
        <p:grpSpPr bwMode="auto">
          <a:xfrm>
            <a:off x="6257401" y="1566865"/>
            <a:ext cx="3889375" cy="2520950"/>
            <a:chOff x="476" y="527"/>
            <a:chExt cx="2450" cy="1588"/>
          </a:xfrm>
        </p:grpSpPr>
        <p:sp>
          <p:nvSpPr>
            <p:cNvPr id="55306" name="Rectangle 3"/>
            <p:cNvSpPr>
              <a:spLocks noChangeArrowheads="1"/>
            </p:cNvSpPr>
            <p:nvPr/>
          </p:nvSpPr>
          <p:spPr bwMode="auto">
            <a:xfrm>
              <a:off x="975" y="935"/>
              <a:ext cx="272" cy="91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55307" name="Line 4"/>
            <p:cNvSpPr>
              <a:spLocks noChangeShapeType="1"/>
            </p:cNvSpPr>
            <p:nvPr/>
          </p:nvSpPr>
          <p:spPr bwMode="auto">
            <a:xfrm flipH="1">
              <a:off x="657" y="981"/>
              <a:ext cx="31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8" name="Line 5"/>
            <p:cNvSpPr>
              <a:spLocks noChangeShapeType="1"/>
            </p:cNvSpPr>
            <p:nvPr/>
          </p:nvSpPr>
          <p:spPr bwMode="auto">
            <a:xfrm>
              <a:off x="1247" y="981"/>
              <a:ext cx="99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9" name="AutoShape 6"/>
            <p:cNvSpPr>
              <a:spLocks noChangeArrowheads="1"/>
            </p:cNvSpPr>
            <p:nvPr/>
          </p:nvSpPr>
          <p:spPr bwMode="auto">
            <a:xfrm>
              <a:off x="1475" y="1389"/>
              <a:ext cx="271" cy="227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55310" name="Line 7"/>
            <p:cNvSpPr>
              <a:spLocks noChangeShapeType="1"/>
            </p:cNvSpPr>
            <p:nvPr/>
          </p:nvSpPr>
          <p:spPr bwMode="auto">
            <a:xfrm>
              <a:off x="1473" y="1389"/>
              <a:ext cx="31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1" name="Line 8"/>
            <p:cNvSpPr>
              <a:spLocks noChangeShapeType="1"/>
            </p:cNvSpPr>
            <p:nvPr/>
          </p:nvSpPr>
          <p:spPr bwMode="auto">
            <a:xfrm>
              <a:off x="1791" y="1389"/>
              <a:ext cx="0" cy="9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2" name="Line 10"/>
            <p:cNvSpPr>
              <a:spLocks noChangeShapeType="1"/>
            </p:cNvSpPr>
            <p:nvPr/>
          </p:nvSpPr>
          <p:spPr bwMode="auto">
            <a:xfrm>
              <a:off x="1610" y="981"/>
              <a:ext cx="0" cy="108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3" name="Line 11"/>
            <p:cNvSpPr>
              <a:spLocks noChangeShapeType="1"/>
            </p:cNvSpPr>
            <p:nvPr/>
          </p:nvSpPr>
          <p:spPr bwMode="auto">
            <a:xfrm>
              <a:off x="703" y="2069"/>
              <a:ext cx="154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4" name="Oval 12"/>
            <p:cNvSpPr>
              <a:spLocks noChangeArrowheads="1"/>
            </p:cNvSpPr>
            <p:nvPr/>
          </p:nvSpPr>
          <p:spPr bwMode="auto">
            <a:xfrm>
              <a:off x="567" y="935"/>
              <a:ext cx="91" cy="90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55315" name="Oval 13"/>
            <p:cNvSpPr>
              <a:spLocks noChangeArrowheads="1"/>
            </p:cNvSpPr>
            <p:nvPr/>
          </p:nvSpPr>
          <p:spPr bwMode="auto">
            <a:xfrm>
              <a:off x="612" y="2025"/>
              <a:ext cx="91" cy="90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55316" name="Oval 14"/>
            <p:cNvSpPr>
              <a:spLocks noChangeArrowheads="1"/>
            </p:cNvSpPr>
            <p:nvPr/>
          </p:nvSpPr>
          <p:spPr bwMode="auto">
            <a:xfrm>
              <a:off x="2245" y="935"/>
              <a:ext cx="91" cy="90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55317" name="Oval 15"/>
            <p:cNvSpPr>
              <a:spLocks noChangeArrowheads="1"/>
            </p:cNvSpPr>
            <p:nvPr/>
          </p:nvSpPr>
          <p:spPr bwMode="auto">
            <a:xfrm>
              <a:off x="2245" y="2025"/>
              <a:ext cx="91" cy="90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55318" name="Rectangle 16"/>
            <p:cNvSpPr>
              <a:spLocks noChangeArrowheads="1"/>
            </p:cNvSpPr>
            <p:nvPr/>
          </p:nvSpPr>
          <p:spPr bwMode="auto">
            <a:xfrm>
              <a:off x="2245" y="1389"/>
              <a:ext cx="91" cy="272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55319" name="Line 17"/>
            <p:cNvSpPr>
              <a:spLocks noChangeShapeType="1"/>
            </p:cNvSpPr>
            <p:nvPr/>
          </p:nvSpPr>
          <p:spPr bwMode="auto">
            <a:xfrm>
              <a:off x="2290" y="1026"/>
              <a:ext cx="0" cy="36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20" name="Line 18"/>
            <p:cNvSpPr>
              <a:spLocks noChangeShapeType="1"/>
            </p:cNvSpPr>
            <p:nvPr/>
          </p:nvSpPr>
          <p:spPr bwMode="auto">
            <a:xfrm>
              <a:off x="2290" y="1661"/>
              <a:ext cx="0" cy="36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21" name="Rectangle 19"/>
            <p:cNvSpPr>
              <a:spLocks noChangeArrowheads="1"/>
            </p:cNvSpPr>
            <p:nvPr/>
          </p:nvSpPr>
          <p:spPr bwMode="auto">
            <a:xfrm>
              <a:off x="476" y="1344"/>
              <a:ext cx="37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8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55322" name="Rectangle 20"/>
            <p:cNvSpPr>
              <a:spLocks noChangeArrowheads="1"/>
            </p:cNvSpPr>
            <p:nvPr/>
          </p:nvSpPr>
          <p:spPr bwMode="auto">
            <a:xfrm>
              <a:off x="1111" y="1298"/>
              <a:ext cx="37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  <a:r>
                <a:rPr kumimoji="1" lang="en-US" altLang="zh-CN" sz="28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Z</a:t>
              </a:r>
            </a:p>
          </p:txBody>
        </p:sp>
        <p:sp>
          <p:nvSpPr>
            <p:cNvPr id="55323" name="Line 21"/>
            <p:cNvSpPr>
              <a:spLocks noChangeShapeType="1"/>
            </p:cNvSpPr>
            <p:nvPr/>
          </p:nvSpPr>
          <p:spPr bwMode="auto">
            <a:xfrm>
              <a:off x="1292" y="890"/>
              <a:ext cx="273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24" name="Rectangle 22"/>
            <p:cNvSpPr>
              <a:spLocks noChangeArrowheads="1"/>
            </p:cNvSpPr>
            <p:nvPr/>
          </p:nvSpPr>
          <p:spPr bwMode="auto">
            <a:xfrm>
              <a:off x="1284" y="527"/>
              <a:ext cx="37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8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55325" name="Line 23"/>
            <p:cNvSpPr>
              <a:spLocks noChangeShapeType="1"/>
            </p:cNvSpPr>
            <p:nvPr/>
          </p:nvSpPr>
          <p:spPr bwMode="auto">
            <a:xfrm>
              <a:off x="1519" y="1026"/>
              <a:ext cx="0" cy="22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26" name="Line 24"/>
            <p:cNvSpPr>
              <a:spLocks noChangeShapeType="1"/>
            </p:cNvSpPr>
            <p:nvPr/>
          </p:nvSpPr>
          <p:spPr bwMode="auto">
            <a:xfrm>
              <a:off x="2200" y="1026"/>
              <a:ext cx="0" cy="22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27" name="Rectangle 26"/>
            <p:cNvSpPr>
              <a:spLocks noChangeArrowheads="1"/>
            </p:cNvSpPr>
            <p:nvPr/>
          </p:nvSpPr>
          <p:spPr bwMode="auto">
            <a:xfrm>
              <a:off x="1111" y="971"/>
              <a:ext cx="50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8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Z</a:t>
              </a:r>
            </a:p>
          </p:txBody>
        </p:sp>
        <p:sp>
          <p:nvSpPr>
            <p:cNvPr id="55328" name="Rectangle 27"/>
            <p:cNvSpPr>
              <a:spLocks noChangeArrowheads="1"/>
            </p:cNvSpPr>
            <p:nvPr/>
          </p:nvSpPr>
          <p:spPr bwMode="auto">
            <a:xfrm>
              <a:off x="1882" y="971"/>
              <a:ext cx="37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8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55329" name="Rectangle 28"/>
            <p:cNvSpPr>
              <a:spLocks noChangeArrowheads="1"/>
            </p:cNvSpPr>
            <p:nvPr/>
          </p:nvSpPr>
          <p:spPr bwMode="auto">
            <a:xfrm>
              <a:off x="1882" y="1344"/>
              <a:ext cx="37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</a:t>
              </a:r>
              <a:r>
                <a:rPr kumimoji="1" lang="en-US" altLang="zh-CN" sz="28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55330" name="Rectangle 29"/>
            <p:cNvSpPr>
              <a:spLocks noChangeArrowheads="1"/>
            </p:cNvSpPr>
            <p:nvPr/>
          </p:nvSpPr>
          <p:spPr bwMode="auto">
            <a:xfrm>
              <a:off x="975" y="608"/>
              <a:ext cx="37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</a:t>
              </a:r>
              <a:endParaRPr kumimoji="1" lang="en-US" altLang="zh-CN" sz="2800" i="1" baseline="-25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5331" name="Rectangle 30"/>
            <p:cNvSpPr>
              <a:spLocks noChangeArrowheads="1"/>
            </p:cNvSpPr>
            <p:nvPr/>
          </p:nvSpPr>
          <p:spPr bwMode="auto">
            <a:xfrm>
              <a:off x="2381" y="1344"/>
              <a:ext cx="45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U</a:t>
              </a:r>
              <a:r>
                <a:rPr kumimoji="1" lang="en-US" altLang="zh-CN" sz="28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Z</a:t>
              </a:r>
            </a:p>
          </p:txBody>
        </p:sp>
        <p:sp>
          <p:nvSpPr>
            <p:cNvPr id="55332" name="Rectangle 31"/>
            <p:cNvSpPr>
              <a:spLocks noChangeArrowheads="1"/>
            </p:cNvSpPr>
            <p:nvPr/>
          </p:nvSpPr>
          <p:spPr bwMode="auto">
            <a:xfrm>
              <a:off x="2426" y="845"/>
              <a:ext cx="45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+</a:t>
              </a:r>
              <a:endParaRPr kumimoji="1" lang="en-US" altLang="zh-CN" sz="2800" i="1" baseline="-25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5333" name="Rectangle 32"/>
            <p:cNvSpPr>
              <a:spLocks noChangeArrowheads="1"/>
            </p:cNvSpPr>
            <p:nvPr/>
          </p:nvSpPr>
          <p:spPr bwMode="auto">
            <a:xfrm>
              <a:off x="521" y="981"/>
              <a:ext cx="45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+</a:t>
              </a:r>
              <a:endParaRPr kumimoji="1" lang="en-US" altLang="zh-CN" sz="2800" i="1" baseline="-25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5334" name="Rectangle 33"/>
            <p:cNvSpPr>
              <a:spLocks noChangeArrowheads="1"/>
            </p:cNvSpPr>
            <p:nvPr/>
          </p:nvSpPr>
          <p:spPr bwMode="auto">
            <a:xfrm>
              <a:off x="2472" y="1788"/>
              <a:ext cx="45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-</a:t>
              </a:r>
              <a:endParaRPr kumimoji="1" lang="en-US" altLang="zh-CN" sz="2800" i="1" baseline="-25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5335" name="Rectangle 34"/>
            <p:cNvSpPr>
              <a:spLocks noChangeArrowheads="1"/>
            </p:cNvSpPr>
            <p:nvPr/>
          </p:nvSpPr>
          <p:spPr bwMode="auto">
            <a:xfrm>
              <a:off x="566" y="1752"/>
              <a:ext cx="45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-</a:t>
              </a:r>
              <a:endParaRPr kumimoji="1" lang="en-US" altLang="zh-CN" sz="2800" i="1" baseline="-25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231460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8734720"/>
              </p:ext>
            </p:extLst>
          </p:nvPr>
        </p:nvGraphicFramePr>
        <p:xfrm>
          <a:off x="2075657" y="4168962"/>
          <a:ext cx="2092325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7" name="Equation" r:id="rId3" imgW="800100" imgH="228600" progId="Equation.DSMT4">
                  <p:embed/>
                </p:oleObj>
              </mc:Choice>
              <mc:Fallback>
                <p:oleObj name="Equation" r:id="rId3" imgW="8001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5657" y="4168962"/>
                        <a:ext cx="2092325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1461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577398"/>
              </p:ext>
            </p:extLst>
          </p:nvPr>
        </p:nvGraphicFramePr>
        <p:xfrm>
          <a:off x="2062957" y="2246315"/>
          <a:ext cx="1495425" cy="1160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8" name="Equation" r:id="rId5" imgW="571252" imgH="444307" progId="Equation.DSMT4">
                  <p:embed/>
                </p:oleObj>
              </mc:Choice>
              <mc:Fallback>
                <p:oleObj name="Equation" r:id="rId5" imgW="571252" imgH="4443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2957" y="2246315"/>
                        <a:ext cx="1495425" cy="1160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1462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5943046"/>
              </p:ext>
            </p:extLst>
          </p:nvPr>
        </p:nvGraphicFramePr>
        <p:xfrm>
          <a:off x="2062957" y="3194593"/>
          <a:ext cx="332105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9" name="Equation" r:id="rId7" imgW="1269449" imgH="406224" progId="Equation.DSMT4">
                  <p:embed/>
                </p:oleObj>
              </mc:Choice>
              <mc:Fallback>
                <p:oleObj name="Equation" r:id="rId7" imgW="1269449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2957" y="3194593"/>
                        <a:ext cx="3321050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1463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8478882"/>
              </p:ext>
            </p:extLst>
          </p:nvPr>
        </p:nvGraphicFramePr>
        <p:xfrm>
          <a:off x="2075657" y="1807372"/>
          <a:ext cx="23241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0" name="Equation" r:id="rId9" imgW="889000" imgH="228600" progId="Equation.DSMT4">
                  <p:embed/>
                </p:oleObj>
              </mc:Choice>
              <mc:Fallback>
                <p:oleObj name="Equation" r:id="rId9" imgW="889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5657" y="1807372"/>
                        <a:ext cx="23241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1464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4458192"/>
              </p:ext>
            </p:extLst>
          </p:nvPr>
        </p:nvGraphicFramePr>
        <p:xfrm>
          <a:off x="5212557" y="4944735"/>
          <a:ext cx="2989262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1" name="Equation" r:id="rId11" imgW="1143000" imgH="228600" progId="Equation.DSMT4">
                  <p:embed/>
                </p:oleObj>
              </mc:Choice>
              <mc:Fallback>
                <p:oleObj name="Equation" r:id="rId11" imgW="1143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2557" y="4944735"/>
                        <a:ext cx="2989262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1465" name="Text Box 41"/>
          <p:cNvSpPr txBox="1">
            <a:spLocks noChangeArrowheads="1"/>
          </p:cNvSpPr>
          <p:nvPr/>
        </p:nvSpPr>
        <p:spPr bwMode="auto">
          <a:xfrm>
            <a:off x="1081881" y="4981575"/>
            <a:ext cx="45873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dirty="0" smtClean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小结：</a:t>
            </a:r>
            <a:r>
              <a:rPr kumimoji="1" lang="zh-CN" altLang="en-US" sz="2800" dirty="0" smtClean="0">
                <a:solidFill>
                  <a:srgbClr val="CC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稳压管稳压条件</a:t>
            </a:r>
            <a:endParaRPr kumimoji="1" lang="zh-CN" altLang="en-US" sz="2800" dirty="0">
              <a:solidFill>
                <a:srgbClr val="CC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0466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1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1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31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31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31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31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31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31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1426" grpId="0"/>
      <p:bldP spid="231465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演示文稿">
  <a:themeElements>
    <a:clrScheme name="演示文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演示文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演示文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</TotalTime>
  <Words>886</Words>
  <Application>Microsoft Office PowerPoint</Application>
  <PresentationFormat>宽屏</PresentationFormat>
  <Paragraphs>190</Paragraphs>
  <Slides>13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13</vt:i4>
      </vt:variant>
    </vt:vector>
  </HeadingPairs>
  <TitlesOfParts>
    <vt:vector size="30" baseType="lpstr">
      <vt:lpstr>Monotype Sorts</vt:lpstr>
      <vt:lpstr>华文隶书</vt:lpstr>
      <vt:lpstr>华文新魏</vt:lpstr>
      <vt:lpstr>楷体</vt:lpstr>
      <vt:lpstr>楷体_GB2312</vt:lpstr>
      <vt:lpstr>宋体</vt:lpstr>
      <vt:lpstr>Arial</vt:lpstr>
      <vt:lpstr>Calibri</vt:lpstr>
      <vt:lpstr>Calibri Light</vt:lpstr>
      <vt:lpstr>Cambria Math</vt:lpstr>
      <vt:lpstr>Symbol</vt:lpstr>
      <vt:lpstr>Times New Roman</vt:lpstr>
      <vt:lpstr>Office 主题</vt:lpstr>
      <vt:lpstr>演示文稿</vt:lpstr>
      <vt:lpstr>公式</vt:lpstr>
      <vt:lpstr>Equation</vt:lpstr>
      <vt:lpstr>Photo Editor 照片</vt:lpstr>
      <vt:lpstr>一、结构</vt:lpstr>
      <vt:lpstr>PowerPoint 演示文稿</vt:lpstr>
      <vt:lpstr>★三、主要参数</vt:lpstr>
      <vt:lpstr>PowerPoint 演示文稿</vt:lpstr>
      <vt:lpstr>★ ★ ★四、二极管应用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五、稳压二极管</vt:lpstr>
      <vt:lpstr>3、主要参数</vt:lpstr>
      <vt:lpstr>PowerPoint 演示文稿</vt:lpstr>
    </vt:vector>
  </TitlesOfParts>
  <Company>P R C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§1.2    半导体二极管</dc:title>
  <dc:creator>Windows User</dc:creator>
  <cp:lastModifiedBy>Windows User</cp:lastModifiedBy>
  <cp:revision>49</cp:revision>
  <dcterms:created xsi:type="dcterms:W3CDTF">2020-02-14T13:04:18Z</dcterms:created>
  <dcterms:modified xsi:type="dcterms:W3CDTF">2020-02-16T07:47:19Z</dcterms:modified>
</cp:coreProperties>
</file>